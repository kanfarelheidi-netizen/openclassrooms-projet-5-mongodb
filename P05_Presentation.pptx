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4dbe09d6d949d7" /><Relationship Type="http://schemas.openxmlformats.org/officeDocument/2006/relationships/extended-properties" Target="/docProps/app.xml" Id="R6d6fa05114b24072" /><Relationship Type="http://schemas.openxmlformats.org/officeDocument/2006/relationships/officeDocument" Target="/ppt/presentation.xml" Id="Rb56c398c11e143bd" /></Relationships>
</file>

<file path=ppt/presentation.xml><?xml version="1.0" encoding="utf-8"?>
<p:presentation xmlns:p="http://schemas.openxmlformats.org/presentationml/2006/main">
  <p:sldMasterIdLst>
    <p:sldMasterId xmlns:r="http://schemas.openxmlformats.org/officeDocument/2006/relationships" id="2147483648" r:id="Rf58ad09519fc426d"/>
  </p:sldMasterIdLst>
  <p:notesMasterIdLst>
    <p:notesMasterId xmlns:r="http://schemas.openxmlformats.org/officeDocument/2006/relationships" r:id="R044f464fbef14bca"/>
  </p:notesMasterIdLst>
  <p:sldIdLst>
    <p:sldId xmlns:r="http://schemas.openxmlformats.org/officeDocument/2006/relationships" id="256" r:id="Ra6ae78b03d3d457e"/>
    <p:sldId xmlns:r="http://schemas.openxmlformats.org/officeDocument/2006/relationships" id="257" r:id="R50d8e677ef3c4380"/>
    <p:sldId xmlns:r="http://schemas.openxmlformats.org/officeDocument/2006/relationships" id="258" r:id="R5c6736b16ed947db"/>
    <p:sldId xmlns:r="http://schemas.openxmlformats.org/officeDocument/2006/relationships" id="259" r:id="R31ac3946318f4ba3"/>
    <p:sldId xmlns:r="http://schemas.openxmlformats.org/officeDocument/2006/relationships" id="260" r:id="R867ad79478a7469f"/>
    <p:sldId xmlns:r="http://schemas.openxmlformats.org/officeDocument/2006/relationships" id="261" r:id="R48c8af17d9e94c9f"/>
    <p:sldId xmlns:r="http://schemas.openxmlformats.org/officeDocument/2006/relationships" id="262" r:id="Rf083fb220970424f"/>
    <p:sldId xmlns:r="http://schemas.openxmlformats.org/officeDocument/2006/relationships" id="263" r:id="R702003a0efd84f78"/>
    <p:sldId xmlns:r="http://schemas.openxmlformats.org/officeDocument/2006/relationships" id="264" r:id="R717995b685c4498b"/>
    <p:sldId xmlns:r="http://schemas.openxmlformats.org/officeDocument/2006/relationships" id="265" r:id="R8593c3e258804a2a"/>
    <p:sldId xmlns:r="http://schemas.openxmlformats.org/officeDocument/2006/relationships" id="266" r:id="Reecd7af6276f4b43"/>
    <p:sldId xmlns:r="http://schemas.openxmlformats.org/officeDocument/2006/relationships" id="268" r:id="R41f9aa50a4654aca"/>
    <p:sldId xmlns:r="http://schemas.openxmlformats.org/officeDocument/2006/relationships" id="269" r:id="R105f99397e0a48a6"/>
    <p:sldId xmlns:r="http://schemas.openxmlformats.org/officeDocument/2006/relationships" id="270" r:id="Rae55116b460f4da9"/>
    <p:sldId xmlns:r="http://schemas.openxmlformats.org/officeDocument/2006/relationships" id="271" r:id="R651a2b6637e84a2e"/>
    <p:sldId xmlns:r="http://schemas.openxmlformats.org/officeDocument/2006/relationships" id="267" r:id="Rf5c1d4c7bfce40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10472aea474e5a" /><Relationship Type="http://schemas.openxmlformats.org/officeDocument/2006/relationships/slideMaster" Target="/ppt/slideMasters/slideMaster1.xml" Id="Rf58ad09519fc426d" /><Relationship Type="http://schemas.openxmlformats.org/officeDocument/2006/relationships/notesMaster" Target="/ppt/notesMasters/notesMaster1.xml" Id="R044f464fbef14bca" /><Relationship Type="http://schemas.openxmlformats.org/officeDocument/2006/relationships/presProps" Target="/ppt/presProps.xml" Id="Redb2d670c8144818" /><Relationship Type="http://schemas.openxmlformats.org/officeDocument/2006/relationships/tableStyles" Target="/ppt/tableStyles.xml" Id="R1ba680d9c2cc4d84" /><Relationship Type="http://schemas.openxmlformats.org/officeDocument/2006/relationships/slide" Target="/ppt/slides/slide1.xml" Id="Ra6ae78b03d3d457e" /><Relationship Type="http://schemas.openxmlformats.org/officeDocument/2006/relationships/slide" Target="/ppt/slides/slide2.xml" Id="R50d8e677ef3c4380" /><Relationship Type="http://schemas.openxmlformats.org/officeDocument/2006/relationships/slide" Target="/ppt/slides/slide3.xml" Id="R5c6736b16ed947db" /><Relationship Type="http://schemas.openxmlformats.org/officeDocument/2006/relationships/slide" Target="/ppt/slides/slide4.xml" Id="R31ac3946318f4ba3" /><Relationship Type="http://schemas.openxmlformats.org/officeDocument/2006/relationships/slide" Target="/ppt/slides/slide5.xml" Id="R867ad79478a7469f" /><Relationship Type="http://schemas.openxmlformats.org/officeDocument/2006/relationships/slide" Target="/ppt/slides/slide6.xml" Id="R48c8af17d9e94c9f" /><Relationship Type="http://schemas.openxmlformats.org/officeDocument/2006/relationships/slide" Target="/ppt/slides/slide7.xml" Id="Rf083fb220970424f" /><Relationship Type="http://schemas.openxmlformats.org/officeDocument/2006/relationships/slide" Target="/ppt/slides/slide8.xml" Id="R702003a0efd84f78" /><Relationship Type="http://schemas.openxmlformats.org/officeDocument/2006/relationships/slide" Target="/ppt/slides/slide9.xml" Id="R717995b685c4498b" /><Relationship Type="http://schemas.openxmlformats.org/officeDocument/2006/relationships/slide" Target="/ppt/slides/slide10.xml" Id="R8593c3e258804a2a" /><Relationship Type="http://schemas.openxmlformats.org/officeDocument/2006/relationships/slide" Target="/ppt/slides/slide11.xml" Id="Reecd7af6276f4b43" /><Relationship Type="http://schemas.openxmlformats.org/officeDocument/2006/relationships/slide" Target="/ppt/slides/slide12.xml" Id="Rf5c1d4c7bfce40e7" /><Relationship Type="http://schemas.openxmlformats.org/officeDocument/2006/relationships/slide" Target="/ppt/slides/slide13.xml" Id="R41f9aa50a4654aca" /><Relationship Type="http://schemas.openxmlformats.org/officeDocument/2006/relationships/slide" Target="/ppt/slides/slide14.xml" Id="R105f99397e0a48a6" /><Relationship Type="http://schemas.openxmlformats.org/officeDocument/2006/relationships/slide" Target="/ppt/slides/slide15.xml" Id="Rae55116b460f4da9" /><Relationship Type="http://schemas.openxmlformats.org/officeDocument/2006/relationships/slide" Target="/ppt/slides/slide16.xml" Id="R651a2b6637e84a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13f87bc8b042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aaea08dd904d4a" /><Relationship Type="http://schemas.openxmlformats.org/officeDocument/2006/relationships/notesMaster" Target="/ppt/notesMasters/notesMaster1.xml" Id="R7fb3fee0da1e40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58df63f29c4a0a" /><Relationship Type="http://schemas.openxmlformats.org/officeDocument/2006/relationships/notesMaster" Target="/ppt/notesMasters/notesMaster1.xml" Id="R9115b766aa284d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957f90b88f43c6" /><Relationship Type="http://schemas.openxmlformats.org/officeDocument/2006/relationships/notesMaster" Target="/ppt/notesMasters/notesMaster1.xml" Id="R5d95992c8dfc4e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a9b91d99444b3a" /><Relationship Type="http://schemas.openxmlformats.org/officeDocument/2006/relationships/notesMaster" Target="/ppt/notesMasters/notesMaster1.xml" Id="Rdb949c32391e4b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44ba0e8022458c" /><Relationship Type="http://schemas.openxmlformats.org/officeDocument/2006/relationships/notesMaster" Target="/ppt/notesMasters/notesMaster1.xml" Id="R027ae1df047946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ec214bd8ea4d8d" /><Relationship Type="http://schemas.openxmlformats.org/officeDocument/2006/relationships/notesMaster" Target="/ppt/notesMasters/notesMaster1.xml" Id="R8b80198bfd9a45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9fc11028ca4b2f" /><Relationship Type="http://schemas.openxmlformats.org/officeDocument/2006/relationships/notesMaster" Target="/ppt/notesMasters/notesMaster1.xml" Id="R6888d9af175848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a86075c0b94340" /><Relationship Type="http://schemas.openxmlformats.org/officeDocument/2006/relationships/notesMaster" Target="/ppt/notesMasters/notesMaster1.xml" Id="R21559433532b4c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2f756491934488" /><Relationship Type="http://schemas.openxmlformats.org/officeDocument/2006/relationships/notesMaster" Target="/ppt/notesMasters/notesMaster1.xml" Id="Rbf0de843abbb4b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cc594920514bf6" /><Relationship Type="http://schemas.openxmlformats.org/officeDocument/2006/relationships/notesMaster" Target="/ppt/notesMasters/notesMaster1.xml" Id="R54e8146ae47747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b98d0a93014681" /><Relationship Type="http://schemas.openxmlformats.org/officeDocument/2006/relationships/notesMaster" Target="/ppt/notesMasters/notesMaster1.xml" Id="R151a30d3e52d47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f0e8c100754986" /><Relationship Type="http://schemas.openxmlformats.org/officeDocument/2006/relationships/notesMaster" Target="/ppt/notesMasters/notesMaster1.xml" Id="Re436d1674fa149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7dc3a32ee74160" /><Relationship Type="http://schemas.openxmlformats.org/officeDocument/2006/relationships/notesMaster" Target="/ppt/notesMasters/notesMaster1.xml" Id="R79575ff3461347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69263bb4274bf5" /><Relationship Type="http://schemas.openxmlformats.org/officeDocument/2006/relationships/notesMaster" Target="/ppt/notesMasters/notesMaster1.xml" Id="Rc57201b8f8e746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23259fe2554f6d" /><Relationship Type="http://schemas.openxmlformats.org/officeDocument/2006/relationships/notesMaster" Target="/ppt/notesMasters/notesMaster1.xml" Id="Rd15a24a17ed343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82bb22b7b6414f" /><Relationship Type="http://schemas.openxmlformats.org/officeDocument/2006/relationships/notesMaster" Target="/ppt/notesMasters/notesMaster1.xml" Id="R0c2c39656aac42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présente le projet 5, consacré au passage d'un fichier médical CSV vers un stockage documentaire MongoDB. Mon objectif n'est pas seulement de charger un fichier : je dois rendre le traitement contrôlable, relançable et explicable. Le dossier comporte le code, le schéma, l'environnement Docker Compose et les preuves de contrôle. Les contrôles du 20 septembre 2026 ont validé le chargement sur MongoDB 8.0.30, la relance sans ajout, les droits et une restauration de 55 500 documents. La publication GitHub et la validation finale restent à terminer.</a:t>
            </a:r>
          </a:p>
          <a:p xmlns:a="http://schemas.openxmlformats.org/drawingml/2006/main">
            <a:r>
              <a:t/>
            </a:r>
          </a:p>
          <a:p xmlns:a="http://schemas.openxmlformats.org/drawingml/2006/main">
            <a:r>
              <a:t>Le terme stockage documentaire signifie qu'un enregistrement est représenté par un document contenant ses attributs. Je conserve ici le grain du fichier fourni : une ligne d'admission reste un document. Je n'introduis ni identifiant patient métier ni relation clinique non présente dans la source.</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mission est d'automatiser l'import du CSV dans MongoDB et de documenter une solution locale avec Docker Compose. Je fixe un critère très simple à comprendre : le nombre de documents doit égaler les 55 500 lignes du fichier. Mais le nombre seul ne suffit pas. Je compare aussi le contenu de chaque document aux quinze valeurs de sa ligne d'origine. Enfin, je relance le même import pour vérifier qu'il ne crée pas de nouveaux documents.</a:t>
            </a:r>
          </a:p>
          <a:p xmlns:a="http://schemas.openxmlformats.org/drawingml/2006/main">
            <a:r>
              <a:t/>
            </a:r>
          </a:p>
          <a:p xmlns:a="http://schemas.openxmlformats.org/drawingml/2006/main">
            <a:r>
              <a:t>Une migration reproductible commence par des préconditions explicites. Ici l'en-tête, le nombre de lignes et l'empreinte du fichier sont vérifiés avant le chargement. Si la source change, le script refuse de traiter silencieusement un autre jeu de données. Le rapport réel confirme 55 500 documents comparés et le migrateur termine avec le code 0, c'est-à-dire sans erreur. Les deux rapports d'import conservent la preuve du premier passage et de la relance.</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profilage relève 55 500 lignes, quinze colonnes, 534 lignes supplémentaires identiques à une autre ligne et 108 montants négatifs. Aucun champ n'est vide. Ce sont des constats mesurés dans le CSV, pas des diagnostics médicaux ou financiers. Le fichier ne contient pas d'identifiant d'admission officiel, et aucune règle métier fournie ne dit qu'un doublon doit être supprimé ou qu'un montant négatif est impossible.</a:t>
            </a:r>
          </a:p>
          <a:p xmlns:a="http://schemas.openxmlformats.org/drawingml/2006/main">
            <a:r>
              <a:t/>
            </a:r>
          </a:p>
          <a:p xmlns:a="http://schemas.openxmlformats.org/drawingml/2006/main">
            <a:r>
              <a:t>Les 534 correspondent au nombre de lignes excédentaires dans des groupes de lignes strictement identiques ; 1 068 lignes sont concernées au total. Les 108 montants négatifs peuvent avoir plusieurs sens, mais le fichier ne permet pas de trancher. Je les signale pour une validation métier future sans modifier les valeurs. Le diagnostic publié ne contient que des agrégats, pas de noms ou d'enregistrements de patients.</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fait un choix conservateur sur les anomalies. Les doublons exacts restent deux admissions source distinctes puisque je n'ai pas de clé métier pour prouver qu'il s'agit de la même admission. Les 108 montants négatifs sont stockés tels quels ; je ne les transforme pas en zéro. Les dates restent des dates civiles au format année mois jour, parce qu'aucune heure ni aucun fuseau ne figure dans le CSV. Les données individuelles et les secrets sont exclus des fichiers à publier. Le dépôt GitHub n'est pas encore publié.</a:t>
            </a:r>
          </a:p>
          <a:p xmlns:a="http://schemas.openxmlformats.org/drawingml/2006/main">
            <a:r>
              <a:t/>
            </a:r>
          </a:p>
          <a:p xmlns:a="http://schemas.openxmlformats.org/drawingml/2006/main">
            <a:r>
              <a:t>Un nettoyage destructif aurait changé le périmètre de la source et rendu le contrôle de volume ambigu. Une future règle de dédoublonnage demanderait une définition métier et une trace des lignes exclues. Les dates ISO sont des chaînes dans ce prototype afin de préserver le sens date seule ; elles ne sont pas des horodatages UTC. La confidentialité ne se résume pas à ne pas publier le CSV : elle impose aussi des rôles adaptés et une minimisation des données pour tout usage analytique.</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ligne devient un document dans la collection admissions. Le numéro de ligne source et l'empreinte SHA 256 du CSV permettent de construire un identifiant technique stable. Cet identifiant n'est pas un numéro d'admission réel ; il sert à retrouver précisément une ligne et à rejouer l'import. Le montant passe en Decimal128 pour conserver les décimales sans les erreurs d'arrondi d'un nombre flottant. Les index documentés couvrent la paire source et ligne, la date d'admission et une recherche par condition médicale et date.</a:t>
            </a:r>
          </a:p>
          <a:p xmlns:a="http://schemas.openxmlformats.org/drawingml/2006/main">
            <a:r>
              <a:t/>
            </a:r>
          </a:p>
          <a:p xmlns:a="http://schemas.openxmlformats.org/drawingml/2006/main">
            <a:r>
              <a:t>La formule simplifiée est empreinte = SHA 256 des octets du CSV ; identifiant = SHA 256 de cette empreinte suivie du numéro de ligne. Deux lignes égales ont donc des identifiants différents. Un index unique sur source_sha256 et source_row protège la correspondance ligne-document. Les index secondaires correspondent à des recherches plausibles, et une requête réelle sur la date du 1er janvier 2024 utilise un index : 31 clés et 31 documents examinés pour 31 résultats. Cela démontre l'usage de cet index pour cette requête, pas un gain universel de performance. Le coût des index sur les écritures n'a pas été mesuré. L'exemple affiché est fictif.</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pipeline suit cinq étapes. Je contrôle d'abord l'empreinte et le profil du CSV. Je lis ensuite chaque ligne et transforme les types selon le schéma : entiers pour l'âge et la chambre, dates ISO, montant Decimal128, textes conservés. Je prépare des remplacements par identifiant, avec création si l'identifiant n'existe pas encore. Enfin, je recompte et compare le contenu complet, ligne par ligne. Sur MongoDB réel, le premier import et la relance donnent chacun 55 500 documents vérifiés. Le fichier source est resté inchangé.</a:t>
            </a:r>
          </a:p>
          <a:p xmlns:a="http://schemas.openxmlformats.org/drawingml/2006/main">
            <a:r>
              <a:t/>
            </a:r>
          </a:p>
          <a:p xmlns:a="http://schemas.openxmlformats.org/drawingml/2006/main">
            <a:r>
              <a:t>Le remplacement avec upsert est la propriété essentielle de l'idempotence : la deuxième exécution remplace la même ligne cible au lieu d'en insérer une nouvelle. Cela n'efface pas automatiquement des documents provenant d'une autre source : la vérification filtre sur l'empreinte du CSV approuvé. Les 55 500 lignes sont traitées par lots de 500 pour limiter la mémoire et pour rendre une interruption récupérable par une relance. Les essais en mémoire restent utiles pour tester le code rapidement. Les essais sur MongoDB réel apportent en plus une preuve de compatibilité et de fonctionnement dans cet environnement local ; ils ne constituent pas un test de charge.</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décrit deux services séparés. MongoDB reçoit la base, les utilisateurs et les index ; le migrateur Python attend que MongoDB soit prêt et reçoit le CSV en lecture seule. Ils communiquent sur un réseau interne. Le volume nommé mongo_data conserve les données lorsque les conteneurs sont recréés. Les mots de passe sont fournis par fichiers secrets, et le port du serveur est limité à l'ordinateur local.</a:t>
            </a:r>
          </a:p>
          <a:p xmlns:a="http://schemas.openxmlformats.org/drawingml/2006/main">
            <a:r>
              <a:t/>
            </a:r>
          </a:p>
          <a:p xmlns:a="http://schemas.openxmlformats.org/drawingml/2006/main">
            <a:r>
              <a:t>Il faut distinguer conteneur et volume : un conteneur est remplaçable, le volume persiste. Le réseau interne évite de faire communiquer les services par des adresses dispersées. Le port 127.0.0.1 permet l'accès local depuis le poste, sans rendre MongoDB accessible à tout le réseau. Le migrateur travaille comme utilisateur non administrateur avec un système de fichiers essentiellement en lecture seule. Le démarrage a été vérifié : MongoDB est healthy et le migrateur est Exited (0). Ce dernier état est normal pour un programme qui termine son import. Les rapports écrits dans /reports sont conservés dans le dossier out du poste. Docker Desktop 4.91.0, Engine 29.8.0 et Compose 5.5.1 ont été utilisés.</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séparé trois identités : une administration initiale, un compte d'import autorisé à lire et écrire, et un lecteur sans droit d'écriture. Les mots de passe ne figurent ni dans le code ni dans Git. Je souligne néanmoins une limite importante : le lecteur peut encore voir les champs personnels et médicaux. L'écriture avec ce compte a bien été refusée, de même qu'une lecture sans authentification. La lecture seule n'est toutefois pas une anonymisation. L'installation locale n'est pas conçue comme une base exposée sur Internet.</a:t>
            </a:r>
          </a:p>
          <a:p xmlns:a="http://schemas.openxmlformats.org/drawingml/2006/main">
            <a:r>
              <a:t/>
            </a:r>
          </a:p>
          <a:p xmlns:a="http://schemas.openxmlformats.org/drawingml/2006/main">
            <a:r>
              <a:t>Les rôles MongoDB readWrite et read contrôlent les actions sur la base, pas la sensibilité d'un champ. Pour une utilisation professionnelle, il faudrait une vue ou une collection minimisée, des droits plus fins, des sauvegardes hors poste, une politique de conservation et du chiffrement réseau. Les scripts d'initialisation des utilisateurs ne s'exécutent que sur un volume neuf ; créer de nouveaux fichiers de mots de passe n'effectue pas une rotation des comptes existants.</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distingue deux niveaux de preuve. Huit tests automatisés contrôlent le code en mémoire. Ensuite, une exécution réelle sur MongoDB a validé deux imports successifs, avec 55 500 documents et comparaison du contenu. Les tests d'accès refusent l'écriture au lecteur et la lecture sans connexion authentifiée. L'export restitue 55 500 lignes conformes. La sauvegarde chiffrée restaure le même volume dans une base temporaire, et une archive altérée est rejetée. Ces résultats sont conservés dans des fichiers de contrôle, pas seulement dans des captures d'écran.</a:t>
            </a:r>
          </a:p>
          <a:p xmlns:a="http://schemas.openxmlformats.org/drawingml/2006/main">
            <a:r>
              <a:t/>
            </a:r>
          </a:p>
          <a:p xmlns:a="http://schemas.openxmlformats.org/drawingml/2006/main">
            <a:r>
              <a:t>Dans P05_Controle_validation_reelle.json, environment vaut real_mongodb et status vaut passed. verified_documents et production_verified_after_tests valent 55500 ; reader_write_denied et unauthenticated_read_denied valent true. exported_rows et restored_documents valent 55500. Pour prouver les deux imports distincts, je montre aussi out/P05_Controle_premier_import.json et out/P05_Controle_migration_reelle.json. Je ne confonds pas les huit tests unitaires avec les vérifications d'intégration réalisées sur le serveur.</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distingue trois opérations. La sauvegarde applicative rassemble les documents en BSON puis chiffre les octets avant l'écriture sur disque ; la clé reste séparée. L'export crée un CSV complet et contrôle chaque ligne, mais ce CSV est en clair et ne doit pas être publié. Enfin, le CRUD crée, lit, modifie et supprime un enregistrement fictif dans une collection de démonstration séparée des admissions.</a:t>
            </a:r>
          </a:p>
          <a:p xmlns:a="http://schemas.openxmlformats.org/drawingml/2006/main">
            <a:r>
              <a:t/>
            </a:r>
          </a:p>
          <a:p xmlns:a="http://schemas.openxmlformats.org/drawingml/2006/main">
            <a:r>
              <a:t>Le volume persistant évite de perdre la base lors d'une simple recréation de conteneur, mais il n'est pas une copie hors poste. La sauvegarde chiffrée n'inclut pas les utilisateurs, les index ou les paramètres de MongoDB : les scripts et secrets doivent être conservés séparément. La restauration réelle a reconstitué 55 500 documents dans une base temporaire distincte, sur le même serveur MongoDB. Cette base a ensuite été supprimée. Une archive volontairement altérée a été refusée avant modification de la cible. Cela ne teste pas la perte du poste entier ni une reprise sur un autre serveur. Perdre la clé rend l'archive illisible ; exposer ensemble la clé et l'archive annule la protection attendue.</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L'énoncé demande une recherche sur des options AWS, mais pas un déploiement dans ce projet. S3 est adapté aux objets comme un CSV ou une archive, pas aux requêtes MongoDB. DocumentDB est une base documentaire gérée compatible avec une partie des API MongoDB ; cette compatibilité doit être testée. ECS exécute des conteneurs, par exemple la tâche d'import. J'attire l'attention sur la formulation RDS pour MongoDB : RDS ne propose pas MongoDB parmi ses moteurs officiels.</a:t>
            </a:r>
          </a:p>
          <a:p xmlns:a="http://schemas.openxmlformats.org/drawingml/2006/main">
            <a:r>
              <a:t/>
            </a:r>
          </a:p>
          <a:p xmlns:a="http://schemas.openxmlformats.org/drawingml/2006/main">
            <a:r>
              <a:t>Un schéma cloud possible, purement documentaire, serait source privée dans S3, tâche d'import ECS et DocumentDB dans un réseau privé. Il faudrait vérifier les types, index et opérations exactes de mon script, puis la sécurité, le coût, la région et la sauvegarde. Des dossiers médicaux ne doivent jamais être envoyés dans un compte cloud sans autorisation et revue de confidentialité. Je n'ai provisionné aucun service AWS.</a:t>
            </a:r>
          </a:p>
          <a:p xmlns:a="http://schemas.openxmlformats.org/drawingml/2006/main">
            <a:r>
              <a:t>Le guide actualisé détaille Docker Desktop : Containers, Logs et Exec. Les preuves de validation restent locales et ne sont pas publiées avec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Démonstration locale : ouvrir Docker Desktop, Containers, groupe p05-medical. Vérifier mongo healthy et migrator Exited (0). Montrer les logs de migration puis, dans Exec de mongo, compter les documents avec le compte lecteur : 55 500. Relancer uniquement migrator et vérifier que le total ne change pas. Montrer les noms des index, sans données de patients ni fichiers de secrets. Les vérifications réelles du 20 septembre sont acquises ; les choix cloud restent une étude documentaire, sans déploiement ni dépense. La validation finale appartient au candidat et au mentor.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AWS nécessite une inscription et les vérifications demandées par son parcours. Cette présentation explique la démarche, elle ne prouve pas un déploiement. Sécuriser le compte racine avec la MFA puis éviter son utilisation courante. Le coût se calcule par poste : heures de calcul, capacité de stockage, entrées-sorties, sauvegardes, trafic et surveillance. Utiliser AWS Pricing Calculator avec une région, un volume et une durée explicités. Une alerte Budgets ne garantit pas un arrêt des ressources. Sources : AWS, Getting started with your AWS account, https://docs.aws.amazon.com/accounts/latest/reference/getting-started.html ; AWS, tarification DocumentDB, S3 et Fargate : https://aws.amazon.com/documentdb/pricing/ ; https://aws.amazon.com/s3/pricing/ ; https://aws.amazon.com/fargate/pricing/ (consultées le 22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Compose local ne devient pas automatiquement un déploiement ECS. Il faut décrire une tâche : image, ressources CPU/mémoire, port, réseau privé, rôle IAM, accès aux secrets et volume. Un service maintient le nombre de tâches voulu. Pour MongoDB, garder les données après remplacement de la tâche est indispensable. Un bind mount sur un hôte EC2 reste lié à cet hôte et ne fournit pas à lui seul une haute disponibilité. Les volumes EBS gérés par ECS ont un cycle de vie et des contraintes à examiner : ne pas annoncer une solution de production sans test de persistance et de remplacement. Fargate évite de gérer les serveurs mais son disque éphémère ne remplace pas un stockage de base durable. Aucun service AWS n’a été lancé. Sources : AWS, Bind mounts, https://docs.aws.amazon.com/AmazonECS/latest/developerguide/bind-mounts.html ; AWS, Amazon EBS volumes, https://docs.aws.amazon.com/AmazonECS/latest/developerguide/ebs-volumes.html (consultées le 22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consigne évoque RDS pour MongoDB. Il faut clarifier à l’oral que RDS ne propose pas le moteur MongoDB. DocumentDB est un autre service AWS avec une compatibilité API, pas une garantie d’identité fonctionnelle. Le script utilise PyMongo, Decimal128 et des écritures upsert : la compatibilité doit être testée, ainsi que les index et les connexions. Une réussite locale sur MongoDB 8.0.30 ne démontre pas une réussite sur DocumentDB. Le service géré réduit certaines tâches d’exploitation mais ne supprime ni la configuration des droits, ni le contrôle qualité, ni la responsabilité sur les données. Sources : AWS, What is Amazon RDS?, https://docs.aws.amazon.com/AmazonRDS/latest/UserGuide/Welcome.html ; AWS, MongoDB compatibility, https://docs.aws.amazon.com/documentdb/latest/devguide/compatibility.html (consultées le 22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DocumentDB propose des sauvegardes automatiques et des instantanés. La durée de rétention se configure entre 1 et 35 jours. Ce stockage géré ne doit pas être confondu avec un bucket S3 personnel pour des archives applicatives. Pour MongoDB sur ECS, définir une sauvegarde cohérente avec l’activité, son chiffrement, sa rétention, ses accès et son stockage indépendant. CloudWatch observe des métriques et peut déclencher des alarmes ; une alarme doit avoir un destinataire et une procédure. RPO désigne la perte de données maximale admissible en durée ; RTO le délai maximal pour rétablir le service. Dans le projet, 55 500 documents ont été restaurés sur le même serveur dans une base séparée : cela vérifie la restauration logique, pas une reprise après perte totale de l’ordinateur. Sources : AWS, Backing up and restoring, https://docs.aws.amazon.com/documentdb/latest/devguide/backup_restore.html ; AWS, Monitoring with CloudWatch, https://docs.aws.amazon.com/documentdb/latest/devguide/cloud_watch.html (consultées le 22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7cde886e5748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2fc9c02e05481d" /><Relationship Type="http://schemas.openxmlformats.org/officeDocument/2006/relationships/slideLayout" Target="/ppt/slideLayouts/slideLayout1.xml" Id="R85ba85724a6e42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ba85724a6e42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0f2f8d934b446e" /><Relationship Type="http://schemas.openxmlformats.org/officeDocument/2006/relationships/notesSlide" Target="/ppt/notesSlides/notesSlide1.xml" Id="R4f655bc0b51d45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13b0f0fdc840f3" /><Relationship Type="http://schemas.openxmlformats.org/officeDocument/2006/relationships/notesSlide" Target="/ppt/notesSlides/notesSlide2.xml" Id="Rf75d2ac4879d48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adffb78da64275" /><Relationship Type="http://schemas.openxmlformats.org/officeDocument/2006/relationships/notesSlide" Target="/ppt/notesSlides/notesSlide3.xml" Id="R1f5751e192d64a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3a8e1ffacf4431" /><Relationship Type="http://schemas.openxmlformats.org/officeDocument/2006/relationships/notesSlide" Target="/ppt/notesSlides/notesSlide4.xml" Id="R72f2b1ad526245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e2d1e7b66644db" /><Relationship Type="http://schemas.openxmlformats.org/officeDocument/2006/relationships/notesSlide" Target="/ppt/notesSlides/notesSlide5.xml" Id="R0c5a461641a54d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8ab36314b0493d" /><Relationship Type="http://schemas.openxmlformats.org/officeDocument/2006/relationships/notesSlide" Target="/ppt/notesSlides/notesSlide6.xml" Id="R777f2acf53d245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0d66c7e9c34610" /><Relationship Type="http://schemas.openxmlformats.org/officeDocument/2006/relationships/notesSlide" Target="/ppt/notesSlides/notesSlide7.xml" Id="R58e46d3219304d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374d52fad844a8" /><Relationship Type="http://schemas.openxmlformats.org/officeDocument/2006/relationships/notesSlide" Target="/ppt/notesSlides/notesSlide8.xml" Id="R26b500f521ca44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d55fa42aac45db" /><Relationship Type="http://schemas.openxmlformats.org/officeDocument/2006/relationships/notesSlide" Target="/ppt/notesSlides/notesSlide9.xml" Id="Ra030ce49c12945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70fe8947794df1" /><Relationship Type="http://schemas.openxmlformats.org/officeDocument/2006/relationships/notesSlide" Target="/ppt/notesSlides/notesSlide10.xml" Id="R80a69fd946ec4c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c5adf2032749cc" /><Relationship Type="http://schemas.openxmlformats.org/officeDocument/2006/relationships/notesSlide" Target="/ppt/notesSlides/notesSlide11.xml" Id="R9b74d496b9ef48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f0766d4a894258" /><Relationship Type="http://schemas.openxmlformats.org/officeDocument/2006/relationships/notesSlide" Target="/ppt/notesSlides/notesSlide12.xml" Id="R4bdc75c9bb4e45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6856cf9a2a4f46" /><Relationship Type="http://schemas.openxmlformats.org/officeDocument/2006/relationships/notesSlide" Target="/ppt/notesSlides/notesSlide13.xml" Id="R75cb64576afc47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3c116dde034519" /><Relationship Type="http://schemas.openxmlformats.org/officeDocument/2006/relationships/notesSlide" Target="/ppt/notesSlides/notesSlide14.xml" Id="R84328384c25342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891d91c1ce45ee" /><Relationship Type="http://schemas.openxmlformats.org/officeDocument/2006/relationships/notesSlide" Target="/ppt/notesSlides/notesSlide15.xml" Id="Rdf5bfdb9b85447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39ae184ebe4294" /><Relationship Type="http://schemas.openxmlformats.org/officeDocument/2006/relationships/notesSlide" Target="/ppt/notesSlides/notesSlide16.xml" Id="R59dae2ef331e4b6c" /></Relationships>
</file>

<file path=ppt/slides/slide1.xml><?xml version="1.0" encoding="utf-8"?>
<p:sld xmlns:p="http://schemas.openxmlformats.org/presentationml/2006/main">
  <p:cSld>
    <p:bg>
      <p:bgPr>
        <a:solidFill xmlns:a="http://schemas.openxmlformats.org/drawingml/2006/main">
          <a:srgbClr val="102A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04DEC7-6CC2-4D5D-9FB3-7D6D0662EAA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4DA58F-5393-4B32-9CCE-8F8D319B39F1}"/>
              </a:ext>
            </a:extLst>
          </p:cNvPr>
          <p:cNvSpPr>
            <a:spLocks xmlns:a="http://schemas.openxmlformats.org/drawingml/2006/main" noGrp="1"/>
          </p:cNvSpPr>
          <p:nvPr/>
        </p:nvSpPr>
        <p:spPr>
          <a:xfrm xmlns:a="http://schemas.openxmlformats.org/drawingml/2006/main">
            <a:off x="723900" y="80962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ED3C9"/>
                </a:solidFill>
                <a:latin typeface="Arial"/>
                <a:ea typeface="Arial"/>
                <a:cs typeface="Arial"/>
              </a:defRPr>
            </a:pPr>
            <a:r>
              <a:rPr sz="1200" b="1">
                <a:solidFill>
                  <a:srgbClr val="8ED3C9"/>
                </a:solidFill>
                <a:latin typeface="Arial"/>
                <a:ea typeface="Arial"/>
                <a:cs typeface="Arial"/>
              </a:rPr>
              <a:t>PROJET 05  /  DATA ENGINEERING</a:t>
            </a:r>
          </a:p>
        </p:txBody>
      </p:sp>
      <p:sp>
        <p:nvSpPr>
          <p:cNvPr id="3" name="">
            <a:extLst xmlns:a="http://schemas.openxmlformats.org/drawingml/2006/main">
              <a:ext uri="{FF2B5EF4-FFF2-40B4-BE49-F238E27FC236}">
                <a16:creationId xmlns:a16="http://schemas.microsoft.com/office/drawing/2014/main" id="{A5C8FE7F-E70E-4A5B-97CF-C6349412872A}"/>
              </a:ext>
            </a:extLst>
          </p:cNvPr>
          <p:cNvSpPr>
            <a:spLocks xmlns:a="http://schemas.openxmlformats.org/drawingml/2006/main" noGrp="1"/>
          </p:cNvSpPr>
          <p:nvPr/>
        </p:nvSpPr>
        <p:spPr>
          <a:xfrm xmlns:a="http://schemas.openxmlformats.org/drawingml/2006/main">
            <a:off x="723900" y="16192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75" b="1">
                <a:solidFill>
                  <a:srgbClr val="FFFFFF"/>
                </a:solidFill>
                <a:latin typeface="Arial"/>
                <a:ea typeface="Arial"/>
                <a:cs typeface="Arial"/>
              </a:defRPr>
            </a:pPr>
            <a:r>
              <a:rPr sz="3975" b="1">
                <a:solidFill>
                  <a:srgbClr val="FFFFFF"/>
                </a:solidFill>
                <a:latin typeface="Arial"/>
                <a:ea typeface="Arial"/>
                <a:cs typeface="Arial"/>
              </a:rPr>
              <a:t>Migrer et documenter</a:t>
            </a:r>
          </a:p>
          <a:p xmlns:a="http://schemas.openxmlformats.org/drawingml/2006/main">
            <a:pPr>
              <a:buNone/>
              <a:defRPr sz="3975" b="1">
                <a:solidFill>
                  <a:srgbClr val="FFFFFF"/>
                </a:solidFill>
                <a:latin typeface="Arial"/>
                <a:ea typeface="Arial"/>
                <a:cs typeface="Arial"/>
              </a:defRPr>
            </a:pPr>
            <a:r>
              <a:rPr sz="3975" b="1">
                <a:solidFill>
                  <a:srgbClr val="FFFFFF"/>
                </a:solidFill>
                <a:latin typeface="Arial"/>
                <a:ea typeface="Arial"/>
                <a:cs typeface="Arial"/>
              </a:rPr>
              <a:t>un stockage médical fiable</a:t>
            </a:r>
          </a:p>
        </p:txBody>
      </p:sp>
      <p:sp>
        <p:nvSpPr>
          <p:cNvPr id="4" name="">
            <a:extLst xmlns:a="http://schemas.openxmlformats.org/drawingml/2006/main">
              <a:ext uri="{FF2B5EF4-FFF2-40B4-BE49-F238E27FC236}">
                <a16:creationId xmlns:a16="http://schemas.microsoft.com/office/drawing/2014/main" id="{6E43E93D-3DE1-439B-BEBB-046992845CBA}"/>
              </a:ext>
            </a:extLst>
          </p:cNvPr>
          <p:cNvSpPr>
            <a:spLocks xmlns:a="http://schemas.openxmlformats.org/drawingml/2006/main" noGrp="1"/>
          </p:cNvSpPr>
          <p:nvPr/>
        </p:nvSpPr>
        <p:spPr>
          <a:xfrm xmlns:a="http://schemas.openxmlformats.org/drawingml/2006/main">
            <a:off x="733425" y="40386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DCEBE8"/>
                </a:solidFill>
                <a:latin typeface="Arial"/>
                <a:ea typeface="Arial"/>
                <a:cs typeface="Arial"/>
              </a:defRPr>
            </a:pPr>
            <a:r>
              <a:rPr sz="1800" b="0">
                <a:solidFill>
                  <a:srgbClr val="DCEBE8"/>
                </a:solidFill>
                <a:latin typeface="Arial"/>
                <a:ea typeface="Arial"/>
                <a:cs typeface="Arial"/>
              </a:rPr>
              <a:t>CSV fourni  →  schéma documentaire  →  MongoDB local via Docker Compose</a:t>
            </a:r>
          </a:p>
        </p:txBody>
      </p:sp>
      <p:sp>
        <p:nvSpPr>
          <p:cNvPr id="5" name="">
            <a:extLst xmlns:a="http://schemas.openxmlformats.org/drawingml/2006/main">
              <a:ext uri="{FF2B5EF4-FFF2-40B4-BE49-F238E27FC236}">
                <a16:creationId xmlns:a16="http://schemas.microsoft.com/office/drawing/2014/main" id="{5B31CAFB-EAE4-4B8F-8CD6-F7CB98C43CE1}"/>
              </a:ext>
            </a:extLst>
          </p:cNvPr>
          <p:cNvSpPr>
            <a:spLocks xmlns:a="http://schemas.openxmlformats.org/drawingml/2006/main" noGrp="1"/>
          </p:cNvSpPr>
          <p:nvPr/>
        </p:nvSpPr>
        <p:spPr>
          <a:xfrm xmlns:a="http://schemas.openxmlformats.org/drawingml/2006/main">
            <a:off x="733425" y="5543550"/>
            <a:ext cx="5715000" cy="28575"/>
          </a:xfrm>
          <a:prstGeom xmlns:a="http://schemas.openxmlformats.org/drawingml/2006/main" prst="rect">
            <a:avLst/>
          </a:prstGeom>
          <a:solidFill xmlns:a="http://schemas.openxmlformats.org/drawingml/2006/main">
            <a:srgbClr val="D18B2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635FBD-3768-4158-9456-216B65B9D670}"/>
              </a:ext>
            </a:extLst>
          </p:cNvPr>
          <p:cNvSpPr>
            <a:spLocks xmlns:a="http://schemas.openxmlformats.org/drawingml/2006/main" noGrp="1"/>
          </p:cNvSpPr>
          <p:nvPr/>
        </p:nvSpPr>
        <p:spPr>
          <a:xfrm xmlns:a="http://schemas.openxmlformats.org/drawingml/2006/main">
            <a:off x="733425" y="5743575"/>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FFFFFF"/>
                </a:solidFill>
                <a:latin typeface="Arial"/>
                <a:ea typeface="Arial"/>
                <a:cs typeface="Arial"/>
              </a:defRPr>
            </a:pPr>
            <a:r>
              <a:rPr sz="1350" b="0">
                <a:solidFill>
                  <a:srgbClr val="FFFFFF"/>
                </a:solidFill>
                <a:latin typeface="Arial"/>
                <a:ea typeface="Arial"/>
                <a:cs typeface="Arial"/>
              </a:rPr>
              <a:t>Résultats réels du 20 septembre 2026  |  Supports révisés le 23 septembre</a:t>
            </a:r>
          </a:p>
        </p:txBody>
      </p:sp>
    </p:spTree>
    <p:extLst>
      <p:ext uri="{BB962C8B-B14F-4D97-AF65-F5344CB8AC3E}">
        <p14:creationId xmlns:p14="http://schemas.microsoft.com/office/powerpoint/2010/main" val="11904784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FD5E5C0-9CC6-4244-8F97-0F7FB08C57D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CE4665-B28D-44A2-964D-4FC46AE5E6B5}"/>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CADRAGE</a:t>
            </a:r>
          </a:p>
        </p:txBody>
      </p:sp>
      <p:sp>
        <p:nvSpPr>
          <p:cNvPr id="3" name="">
            <a:extLst xmlns:a="http://schemas.openxmlformats.org/drawingml/2006/main">
              <a:ext uri="{FF2B5EF4-FFF2-40B4-BE49-F238E27FC236}">
                <a16:creationId xmlns:a16="http://schemas.microsoft.com/office/drawing/2014/main" id="{A7A6B45A-A116-4EA3-8976-EF5B01983A74}"/>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Mission et critère de réussite</a:t>
            </a:r>
          </a:p>
        </p:txBody>
      </p:sp>
      <p:sp>
        <p:nvSpPr>
          <p:cNvPr id="4" name="">
            <a:extLst xmlns:a="http://schemas.openxmlformats.org/drawingml/2006/main">
              <a:ext uri="{FF2B5EF4-FFF2-40B4-BE49-F238E27FC236}">
                <a16:creationId xmlns:a16="http://schemas.microsoft.com/office/drawing/2014/main" id="{E0D9F27C-16FC-48FF-92A7-4D6E1201ED6C}"/>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B890E8-8EBA-4F23-BCF8-AC183AB70FAA}"/>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98766530-CFD7-4423-91FF-B7CC447B0613}"/>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5407473-0C57-4FDA-931F-DF45C1E34A0D}"/>
              </a:ext>
            </a:extLst>
          </p:cNvPr>
          <p:cNvSpPr>
            <a:spLocks xmlns:a="http://schemas.openxmlformats.org/drawingml/2006/main" noGrp="1"/>
          </p:cNvSpPr>
          <p:nvPr/>
        </p:nvSpPr>
        <p:spPr>
          <a:xfrm xmlns:a="http://schemas.openxmlformats.org/drawingml/2006/main">
            <a:off x="666750" y="1714500"/>
            <a:ext cx="66675" cy="89535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930F50-C991-4C0E-BD0B-462A3321284E}"/>
              </a:ext>
            </a:extLst>
          </p:cNvPr>
          <p:cNvSpPr>
            <a:spLocks xmlns:a="http://schemas.openxmlformats.org/drawingml/2006/main" noGrp="1"/>
          </p:cNvSpPr>
          <p:nvPr/>
        </p:nvSpPr>
        <p:spPr>
          <a:xfrm xmlns:a="http://schemas.openxmlformats.org/drawingml/2006/main">
            <a:off x="942975" y="175260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Importer</a:t>
            </a:r>
          </a:p>
        </p:txBody>
      </p:sp>
      <p:sp>
        <p:nvSpPr>
          <p:cNvPr id="9" name="">
            <a:extLst xmlns:a="http://schemas.openxmlformats.org/drawingml/2006/main">
              <a:ext uri="{FF2B5EF4-FFF2-40B4-BE49-F238E27FC236}">
                <a16:creationId xmlns:a16="http://schemas.microsoft.com/office/drawing/2014/main" id="{A3285B83-70F0-4797-87F1-E4AB1E6D0E84}"/>
              </a:ext>
            </a:extLst>
          </p:cNvPr>
          <p:cNvSpPr>
            <a:spLocks xmlns:a="http://schemas.openxmlformats.org/drawingml/2006/main" noGrp="1"/>
          </p:cNvSpPr>
          <p:nvPr/>
        </p:nvSpPr>
        <p:spPr>
          <a:xfrm xmlns:a="http://schemas.openxmlformats.org/drawingml/2006/main">
            <a:off x="3619500" y="1752600"/>
            <a:ext cx="7762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55 500 lignes chargées et vérifiées sur MongoDB réel. Une ligne source = un document.</a:t>
            </a:r>
          </a:p>
        </p:txBody>
      </p:sp>
      <p:sp>
        <p:nvSpPr>
          <p:cNvPr id="10" name="">
            <a:extLst xmlns:a="http://schemas.openxmlformats.org/drawingml/2006/main">
              <a:ext uri="{FF2B5EF4-FFF2-40B4-BE49-F238E27FC236}">
                <a16:creationId xmlns:a16="http://schemas.microsoft.com/office/drawing/2014/main" id="{2A851E9F-C4FC-4CFE-871F-00820B29FADE}"/>
              </a:ext>
            </a:extLst>
          </p:cNvPr>
          <p:cNvSpPr>
            <a:spLocks xmlns:a="http://schemas.openxmlformats.org/drawingml/2006/main" noGrp="1"/>
          </p:cNvSpPr>
          <p:nvPr/>
        </p:nvSpPr>
        <p:spPr>
          <a:xfrm xmlns:a="http://schemas.openxmlformats.org/drawingml/2006/main">
            <a:off x="942975" y="2600325"/>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E90129-5571-4D98-8214-5083780B9902}"/>
              </a:ext>
            </a:extLst>
          </p:cNvPr>
          <p:cNvSpPr>
            <a:spLocks xmlns:a="http://schemas.openxmlformats.org/drawingml/2006/main" noGrp="1"/>
          </p:cNvSpPr>
          <p:nvPr/>
        </p:nvSpPr>
        <p:spPr>
          <a:xfrm xmlns:a="http://schemas.openxmlformats.org/drawingml/2006/main">
            <a:off x="666750" y="2695575"/>
            <a:ext cx="66675" cy="895350"/>
          </a:xfrm>
          <a:prstGeom xmlns:a="http://schemas.openxmlformats.org/drawingml/2006/main" prst="rect">
            <a:avLst/>
          </a:prstGeom>
          <a:solidFill xmlns:a="http://schemas.openxmlformats.org/drawingml/2006/main">
            <a:srgbClr val="2D668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63832DF-776D-4D6B-A8A0-AA2C9B1FD7E7}"/>
              </a:ext>
            </a:extLst>
          </p:cNvPr>
          <p:cNvSpPr>
            <a:spLocks xmlns:a="http://schemas.openxmlformats.org/drawingml/2006/main" noGrp="1"/>
          </p:cNvSpPr>
          <p:nvPr/>
        </p:nvSpPr>
        <p:spPr>
          <a:xfrm xmlns:a="http://schemas.openxmlformats.org/drawingml/2006/main">
            <a:off x="942975" y="2733675"/>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Relancer</a:t>
            </a:r>
          </a:p>
        </p:txBody>
      </p:sp>
      <p:sp>
        <p:nvSpPr>
          <p:cNvPr id="13" name="">
            <a:extLst xmlns:a="http://schemas.openxmlformats.org/drawingml/2006/main">
              <a:ext uri="{FF2B5EF4-FFF2-40B4-BE49-F238E27FC236}">
                <a16:creationId xmlns:a16="http://schemas.microsoft.com/office/drawing/2014/main" id="{95B5BDB6-351E-41EF-AA10-2434B30D6D81}"/>
              </a:ext>
            </a:extLst>
          </p:cNvPr>
          <p:cNvSpPr>
            <a:spLocks xmlns:a="http://schemas.openxmlformats.org/drawingml/2006/main" noGrp="1"/>
          </p:cNvSpPr>
          <p:nvPr/>
        </p:nvSpPr>
        <p:spPr>
          <a:xfrm xmlns:a="http://schemas.openxmlformats.org/drawingml/2006/main">
            <a:off x="3619500" y="2733675"/>
            <a:ext cx="7762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55 500 documents après la relance : mêmes identifiants, aucun ajout.</a:t>
            </a:r>
          </a:p>
        </p:txBody>
      </p:sp>
      <p:sp>
        <p:nvSpPr>
          <p:cNvPr id="14" name="">
            <a:extLst xmlns:a="http://schemas.openxmlformats.org/drawingml/2006/main">
              <a:ext uri="{FF2B5EF4-FFF2-40B4-BE49-F238E27FC236}">
                <a16:creationId xmlns:a16="http://schemas.microsoft.com/office/drawing/2014/main" id="{59B69DAB-BD70-4EF5-8005-16C1344EC53A}"/>
              </a:ext>
            </a:extLst>
          </p:cNvPr>
          <p:cNvSpPr>
            <a:spLocks xmlns:a="http://schemas.openxmlformats.org/drawingml/2006/main" noGrp="1"/>
          </p:cNvSpPr>
          <p:nvPr/>
        </p:nvSpPr>
        <p:spPr>
          <a:xfrm xmlns:a="http://schemas.openxmlformats.org/drawingml/2006/main">
            <a:off x="942975" y="358140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1F36EBC-BC9D-4CD0-8AC5-C6BA70A0621C}"/>
              </a:ext>
            </a:extLst>
          </p:cNvPr>
          <p:cNvSpPr>
            <a:spLocks xmlns:a="http://schemas.openxmlformats.org/drawingml/2006/main" noGrp="1"/>
          </p:cNvSpPr>
          <p:nvPr/>
        </p:nvSpPr>
        <p:spPr>
          <a:xfrm xmlns:a="http://schemas.openxmlformats.org/drawingml/2006/main">
            <a:off x="666750" y="3676650"/>
            <a:ext cx="66675" cy="895350"/>
          </a:xfrm>
          <a:prstGeom xmlns:a="http://schemas.openxmlformats.org/drawingml/2006/main" prst="rect">
            <a:avLst/>
          </a:prstGeom>
          <a:solidFill xmlns:a="http://schemas.openxmlformats.org/drawingml/2006/main">
            <a:srgbClr val="D18B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E1E8DF-27D8-43EE-8ACB-108CEF396970}"/>
              </a:ext>
            </a:extLst>
          </p:cNvPr>
          <p:cNvSpPr>
            <a:spLocks xmlns:a="http://schemas.openxmlformats.org/drawingml/2006/main" noGrp="1"/>
          </p:cNvSpPr>
          <p:nvPr/>
        </p:nvSpPr>
        <p:spPr>
          <a:xfrm xmlns:a="http://schemas.openxmlformats.org/drawingml/2006/main">
            <a:off x="942975" y="371475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Vérifier</a:t>
            </a:r>
          </a:p>
        </p:txBody>
      </p:sp>
      <p:sp>
        <p:nvSpPr>
          <p:cNvPr id="17" name="">
            <a:extLst xmlns:a="http://schemas.openxmlformats.org/drawingml/2006/main">
              <a:ext uri="{FF2B5EF4-FFF2-40B4-BE49-F238E27FC236}">
                <a16:creationId xmlns:a16="http://schemas.microsoft.com/office/drawing/2014/main" id="{373806BD-F7E1-4AD9-BCFB-3C875AED0C9F}"/>
              </a:ext>
            </a:extLst>
          </p:cNvPr>
          <p:cNvSpPr>
            <a:spLocks xmlns:a="http://schemas.openxmlformats.org/drawingml/2006/main" noGrp="1"/>
          </p:cNvSpPr>
          <p:nvPr/>
        </p:nvSpPr>
        <p:spPr>
          <a:xfrm xmlns:a="http://schemas.openxmlformats.org/drawingml/2006/main">
            <a:off x="3619500" y="3714750"/>
            <a:ext cx="7762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Volume et contenu complet comparés ; source inchangée après les tests.</a:t>
            </a:r>
          </a:p>
        </p:txBody>
      </p:sp>
      <p:sp>
        <p:nvSpPr>
          <p:cNvPr id="18" name="">
            <a:extLst xmlns:a="http://schemas.openxmlformats.org/drawingml/2006/main">
              <a:ext uri="{FF2B5EF4-FFF2-40B4-BE49-F238E27FC236}">
                <a16:creationId xmlns:a16="http://schemas.microsoft.com/office/drawing/2014/main" id="{44805E02-02FF-454F-BA4F-A1DCEE79F057}"/>
              </a:ext>
            </a:extLst>
          </p:cNvPr>
          <p:cNvSpPr>
            <a:spLocks xmlns:a="http://schemas.openxmlformats.org/drawingml/2006/main" noGrp="1"/>
          </p:cNvSpPr>
          <p:nvPr/>
        </p:nvSpPr>
        <p:spPr>
          <a:xfrm xmlns:a="http://schemas.openxmlformats.org/drawingml/2006/main">
            <a:off x="942975" y="4562475"/>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132585-D59B-4D37-A10E-6C31116364B9}"/>
              </a:ext>
            </a:extLst>
          </p:cNvPr>
          <p:cNvSpPr>
            <a:spLocks xmlns:a="http://schemas.openxmlformats.org/drawingml/2006/main" noGrp="1"/>
          </p:cNvSpPr>
          <p:nvPr/>
        </p:nvSpPr>
        <p:spPr>
          <a:xfrm xmlns:a="http://schemas.openxmlformats.org/drawingml/2006/main">
            <a:off x="666750" y="4657725"/>
            <a:ext cx="66675" cy="895350"/>
          </a:xfrm>
          <a:prstGeom xmlns:a="http://schemas.openxmlformats.org/drawingml/2006/main" prst="rect">
            <a:avLst/>
          </a:prstGeom>
          <a:solidFill xmlns:a="http://schemas.openxmlformats.org/drawingml/2006/main">
            <a:srgbClr val="B33B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0A4E113-3E56-4CDA-AA38-A62DCDCECDDE}"/>
              </a:ext>
            </a:extLst>
          </p:cNvPr>
          <p:cNvSpPr>
            <a:spLocks xmlns:a="http://schemas.openxmlformats.org/drawingml/2006/main" noGrp="1"/>
          </p:cNvSpPr>
          <p:nvPr/>
        </p:nvSpPr>
        <p:spPr>
          <a:xfrm xmlns:a="http://schemas.openxmlformats.org/drawingml/2006/main">
            <a:off x="942975" y="4695825"/>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Documenter</a:t>
            </a:r>
          </a:p>
        </p:txBody>
      </p:sp>
      <p:sp>
        <p:nvSpPr>
          <p:cNvPr id="21" name="">
            <a:extLst xmlns:a="http://schemas.openxmlformats.org/drawingml/2006/main">
              <a:ext uri="{FF2B5EF4-FFF2-40B4-BE49-F238E27FC236}">
                <a16:creationId xmlns:a16="http://schemas.microsoft.com/office/drawing/2014/main" id="{1FAE6864-A07C-44A8-9747-B11CBEE5902E}"/>
              </a:ext>
            </a:extLst>
          </p:cNvPr>
          <p:cNvSpPr>
            <a:spLocks xmlns:a="http://schemas.openxmlformats.org/drawingml/2006/main" noGrp="1"/>
          </p:cNvSpPr>
          <p:nvPr/>
        </p:nvSpPr>
        <p:spPr>
          <a:xfrm xmlns:a="http://schemas.openxmlformats.org/drawingml/2006/main">
            <a:off x="3619500" y="4695825"/>
            <a:ext cx="7762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README, schéma, rôles, index, conteneurs, sauvegarde et limites de sécurité.</a:t>
            </a:r>
          </a:p>
        </p:txBody>
      </p:sp>
      <p:sp>
        <p:nvSpPr>
          <p:cNvPr id="22" name="">
            <a:extLst xmlns:a="http://schemas.openxmlformats.org/drawingml/2006/main">
              <a:ext uri="{FF2B5EF4-FFF2-40B4-BE49-F238E27FC236}">
                <a16:creationId xmlns:a16="http://schemas.microsoft.com/office/drawing/2014/main" id="{848E8647-4D17-4E25-B161-0073C5BA85EC}"/>
              </a:ext>
            </a:extLst>
          </p:cNvPr>
          <p:cNvSpPr>
            <a:spLocks xmlns:a="http://schemas.openxmlformats.org/drawingml/2006/main" noGrp="1"/>
          </p:cNvSpPr>
          <p:nvPr/>
        </p:nvSpPr>
        <p:spPr>
          <a:xfrm xmlns:a="http://schemas.openxmlformats.org/drawingml/2006/main">
            <a:off x="942975" y="554355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Tree>
    <p:extLst>
      <p:ext uri="{BB962C8B-B14F-4D97-AF65-F5344CB8AC3E}">
        <p14:creationId xmlns:p14="http://schemas.microsoft.com/office/powerpoint/2010/main" val="813959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FEFAFEC-A133-4259-8307-ADFD7C6F802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6A9CD0-B216-45CF-86D2-CC111AED8AF8}"/>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DIAGNOSTIC</a:t>
            </a:r>
          </a:p>
        </p:txBody>
      </p:sp>
      <p:sp>
        <p:nvSpPr>
          <p:cNvPr id="3" name="">
            <a:extLst xmlns:a="http://schemas.openxmlformats.org/drawingml/2006/main">
              <a:ext uri="{FF2B5EF4-FFF2-40B4-BE49-F238E27FC236}">
                <a16:creationId xmlns:a16="http://schemas.microsoft.com/office/drawing/2014/main" id="{258ED1D1-1D72-49B0-B6E3-C1C7DF345AB6}"/>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Ce que dit réellement le CSV</a:t>
            </a:r>
          </a:p>
        </p:txBody>
      </p:sp>
      <p:sp>
        <p:nvSpPr>
          <p:cNvPr id="4" name="">
            <a:extLst xmlns:a="http://schemas.openxmlformats.org/drawingml/2006/main">
              <a:ext uri="{FF2B5EF4-FFF2-40B4-BE49-F238E27FC236}">
                <a16:creationId xmlns:a16="http://schemas.microsoft.com/office/drawing/2014/main" id="{64E8B1DB-9896-4B29-BBFE-5FD216EB0C3D}"/>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A09E7E-A8FE-484B-8B59-75FD1B300C8E}"/>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E90DD5C0-2C72-4CA0-A864-3D3F6B3B1973}"/>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4C0668A4-044C-408F-88BB-CB7F0673EEAF}"/>
              </a:ext>
            </a:extLst>
          </p:cNvPr>
          <p:cNvSpPr>
            <a:spLocks xmlns:a="http://schemas.openxmlformats.org/drawingml/2006/main" noGrp="1"/>
          </p:cNvSpPr>
          <p:nvPr/>
        </p:nvSpPr>
        <p:spPr>
          <a:xfrm xmlns:a="http://schemas.openxmlformats.org/drawingml/2006/main">
            <a:off x="666750" y="1847850"/>
            <a:ext cx="2381250" cy="19050"/>
          </a:xfrm>
          <a:prstGeom xmlns:a="http://schemas.openxmlformats.org/drawingml/2006/main" prst="rect">
            <a:avLst/>
          </a:prstGeom>
          <a:solidFill xmlns:a="http://schemas.openxmlformats.org/drawingml/2006/main">
            <a:srgbClr val="102A3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ADE704-1DCA-4AB6-8092-F4BEACF82971}"/>
              </a:ext>
            </a:extLst>
          </p:cNvPr>
          <p:cNvSpPr>
            <a:spLocks xmlns:a="http://schemas.openxmlformats.org/drawingml/2006/main" noGrp="1"/>
          </p:cNvSpPr>
          <p:nvPr/>
        </p:nvSpPr>
        <p:spPr>
          <a:xfrm xmlns:a="http://schemas.openxmlformats.org/drawingml/2006/main">
            <a:off x="666750" y="206692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A35"/>
                </a:solidFill>
                <a:latin typeface="Arial"/>
                <a:ea typeface="Arial"/>
                <a:cs typeface="Arial"/>
              </a:defRPr>
            </a:pPr>
            <a:r>
              <a:rPr sz="3225" b="1">
                <a:solidFill>
                  <a:srgbClr val="102A35"/>
                </a:solidFill>
                <a:latin typeface="Arial"/>
                <a:ea typeface="Arial"/>
                <a:cs typeface="Arial"/>
              </a:rPr>
              <a:t>55 500</a:t>
            </a:r>
          </a:p>
        </p:txBody>
      </p:sp>
      <p:sp>
        <p:nvSpPr>
          <p:cNvPr id="9" name="">
            <a:extLst xmlns:a="http://schemas.openxmlformats.org/drawingml/2006/main">
              <a:ext uri="{FF2B5EF4-FFF2-40B4-BE49-F238E27FC236}">
                <a16:creationId xmlns:a16="http://schemas.microsoft.com/office/drawing/2014/main" id="{12096216-EB09-4579-8D40-847A03AEBAC8}"/>
              </a:ext>
            </a:extLst>
          </p:cNvPr>
          <p:cNvSpPr>
            <a:spLocks xmlns:a="http://schemas.openxmlformats.org/drawingml/2006/main" noGrp="1"/>
          </p:cNvSpPr>
          <p:nvPr/>
        </p:nvSpPr>
        <p:spPr>
          <a:xfrm xmlns:a="http://schemas.openxmlformats.org/drawingml/2006/main">
            <a:off x="666750" y="273367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lignes de dossiers</a:t>
            </a:r>
          </a:p>
        </p:txBody>
      </p:sp>
      <p:sp>
        <p:nvSpPr>
          <p:cNvPr id="10" name="">
            <a:extLst xmlns:a="http://schemas.openxmlformats.org/drawingml/2006/main">
              <a:ext uri="{FF2B5EF4-FFF2-40B4-BE49-F238E27FC236}">
                <a16:creationId xmlns:a16="http://schemas.microsoft.com/office/drawing/2014/main" id="{0641C0C0-98F4-445D-9D40-21A02A0E4F57}"/>
              </a:ext>
            </a:extLst>
          </p:cNvPr>
          <p:cNvSpPr>
            <a:spLocks xmlns:a="http://schemas.openxmlformats.org/drawingml/2006/main" noGrp="1"/>
          </p:cNvSpPr>
          <p:nvPr/>
        </p:nvSpPr>
        <p:spPr>
          <a:xfrm xmlns:a="http://schemas.openxmlformats.org/drawingml/2006/main">
            <a:off x="3524250" y="1847850"/>
            <a:ext cx="2381250" cy="19050"/>
          </a:xfrm>
          <a:prstGeom xmlns:a="http://schemas.openxmlformats.org/drawingml/2006/main" prst="rect">
            <a:avLst/>
          </a:prstGeom>
          <a:solidFill xmlns:a="http://schemas.openxmlformats.org/drawingml/2006/main">
            <a:srgbClr val="2D66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160CE7-8ACD-47F4-BD8F-3E8D18C25BE2}"/>
              </a:ext>
            </a:extLst>
          </p:cNvPr>
          <p:cNvSpPr>
            <a:spLocks xmlns:a="http://schemas.openxmlformats.org/drawingml/2006/main" noGrp="1"/>
          </p:cNvSpPr>
          <p:nvPr/>
        </p:nvSpPr>
        <p:spPr>
          <a:xfrm xmlns:a="http://schemas.openxmlformats.org/drawingml/2006/main">
            <a:off x="3524250" y="206692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2D668A"/>
                </a:solidFill>
                <a:latin typeface="Arial"/>
                <a:ea typeface="Arial"/>
                <a:cs typeface="Arial"/>
              </a:defRPr>
            </a:pPr>
            <a:r>
              <a:rPr sz="3225" b="1">
                <a:solidFill>
                  <a:srgbClr val="2D668A"/>
                </a:solidFill>
                <a:latin typeface="Arial"/>
                <a:ea typeface="Arial"/>
                <a:cs typeface="Arial"/>
              </a:rPr>
              <a:t>15</a:t>
            </a:r>
          </a:p>
        </p:txBody>
      </p:sp>
      <p:sp>
        <p:nvSpPr>
          <p:cNvPr id="12" name="">
            <a:extLst xmlns:a="http://schemas.openxmlformats.org/drawingml/2006/main">
              <a:ext uri="{FF2B5EF4-FFF2-40B4-BE49-F238E27FC236}">
                <a16:creationId xmlns:a16="http://schemas.microsoft.com/office/drawing/2014/main" id="{ED03AFD5-2E0E-4B14-B10C-28668C35ACC2}"/>
              </a:ext>
            </a:extLst>
          </p:cNvPr>
          <p:cNvSpPr>
            <a:spLocks xmlns:a="http://schemas.openxmlformats.org/drawingml/2006/main" noGrp="1"/>
          </p:cNvSpPr>
          <p:nvPr/>
        </p:nvSpPr>
        <p:spPr>
          <a:xfrm xmlns:a="http://schemas.openxmlformats.org/drawingml/2006/main">
            <a:off x="3524250" y="273367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colonnes source</a:t>
            </a:r>
          </a:p>
        </p:txBody>
      </p:sp>
      <p:sp>
        <p:nvSpPr>
          <p:cNvPr id="13" name="">
            <a:extLst xmlns:a="http://schemas.openxmlformats.org/drawingml/2006/main">
              <a:ext uri="{FF2B5EF4-FFF2-40B4-BE49-F238E27FC236}">
                <a16:creationId xmlns:a16="http://schemas.microsoft.com/office/drawing/2014/main" id="{BFAA40D7-FAA9-473C-8166-C874DB894FF6}"/>
              </a:ext>
            </a:extLst>
          </p:cNvPr>
          <p:cNvSpPr>
            <a:spLocks xmlns:a="http://schemas.openxmlformats.org/drawingml/2006/main" noGrp="1"/>
          </p:cNvSpPr>
          <p:nvPr/>
        </p:nvSpPr>
        <p:spPr>
          <a:xfrm xmlns:a="http://schemas.openxmlformats.org/drawingml/2006/main">
            <a:off x="6381750" y="1847850"/>
            <a:ext cx="2381250" cy="19050"/>
          </a:xfrm>
          <a:prstGeom xmlns:a="http://schemas.openxmlformats.org/drawingml/2006/main" prst="rect">
            <a:avLst/>
          </a:prstGeom>
          <a:solidFill xmlns:a="http://schemas.openxmlformats.org/drawingml/2006/main">
            <a:srgbClr val="D18B2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4B70E12-B5BC-4DAA-920E-E7B7D62B424F}"/>
              </a:ext>
            </a:extLst>
          </p:cNvPr>
          <p:cNvSpPr>
            <a:spLocks xmlns:a="http://schemas.openxmlformats.org/drawingml/2006/main" noGrp="1"/>
          </p:cNvSpPr>
          <p:nvPr/>
        </p:nvSpPr>
        <p:spPr>
          <a:xfrm xmlns:a="http://schemas.openxmlformats.org/drawingml/2006/main">
            <a:off x="6381750" y="206692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D18B2C"/>
                </a:solidFill>
                <a:latin typeface="Arial"/>
                <a:ea typeface="Arial"/>
                <a:cs typeface="Arial"/>
              </a:defRPr>
            </a:pPr>
            <a:r>
              <a:rPr sz="3225" b="1">
                <a:solidFill>
                  <a:srgbClr val="D18B2C"/>
                </a:solidFill>
                <a:latin typeface="Arial"/>
                <a:ea typeface="Arial"/>
                <a:cs typeface="Arial"/>
              </a:rPr>
              <a:t>534</a:t>
            </a:r>
          </a:p>
        </p:txBody>
      </p:sp>
      <p:sp>
        <p:nvSpPr>
          <p:cNvPr id="15" name="">
            <a:extLst xmlns:a="http://schemas.openxmlformats.org/drawingml/2006/main">
              <a:ext uri="{FF2B5EF4-FFF2-40B4-BE49-F238E27FC236}">
                <a16:creationId xmlns:a16="http://schemas.microsoft.com/office/drawing/2014/main" id="{4E46E6F1-AADC-41E6-934C-6656B7EF2B40}"/>
              </a:ext>
            </a:extLst>
          </p:cNvPr>
          <p:cNvSpPr>
            <a:spLocks xmlns:a="http://schemas.openxmlformats.org/drawingml/2006/main" noGrp="1"/>
          </p:cNvSpPr>
          <p:nvPr/>
        </p:nvSpPr>
        <p:spPr>
          <a:xfrm xmlns:a="http://schemas.openxmlformats.org/drawingml/2006/main">
            <a:off x="6381750" y="273367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lignes supplémentaires identiques</a:t>
            </a:r>
          </a:p>
        </p:txBody>
      </p:sp>
      <p:sp>
        <p:nvSpPr>
          <p:cNvPr id="16" name="">
            <a:extLst xmlns:a="http://schemas.openxmlformats.org/drawingml/2006/main">
              <a:ext uri="{FF2B5EF4-FFF2-40B4-BE49-F238E27FC236}">
                <a16:creationId xmlns:a16="http://schemas.microsoft.com/office/drawing/2014/main" id="{792D9CAB-29AA-4EE5-842D-3D869B868605}"/>
              </a:ext>
            </a:extLst>
          </p:cNvPr>
          <p:cNvSpPr>
            <a:spLocks xmlns:a="http://schemas.openxmlformats.org/drawingml/2006/main" noGrp="1"/>
          </p:cNvSpPr>
          <p:nvPr/>
        </p:nvSpPr>
        <p:spPr>
          <a:xfrm xmlns:a="http://schemas.openxmlformats.org/drawingml/2006/main">
            <a:off x="9239250" y="1847850"/>
            <a:ext cx="2286000" cy="19050"/>
          </a:xfrm>
          <a:prstGeom xmlns:a="http://schemas.openxmlformats.org/drawingml/2006/main" prst="rect">
            <a:avLst/>
          </a:prstGeom>
          <a:solidFill xmlns:a="http://schemas.openxmlformats.org/drawingml/2006/main">
            <a:srgbClr val="B33B4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AE6F7F-EB01-4ADE-BB84-571D8E1F293C}"/>
              </a:ext>
            </a:extLst>
          </p:cNvPr>
          <p:cNvSpPr>
            <a:spLocks xmlns:a="http://schemas.openxmlformats.org/drawingml/2006/main" noGrp="1"/>
          </p:cNvSpPr>
          <p:nvPr/>
        </p:nvSpPr>
        <p:spPr>
          <a:xfrm xmlns:a="http://schemas.openxmlformats.org/drawingml/2006/main">
            <a:off x="9239250" y="2066925"/>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B33B42"/>
                </a:solidFill>
                <a:latin typeface="Arial"/>
                <a:ea typeface="Arial"/>
                <a:cs typeface="Arial"/>
              </a:defRPr>
            </a:pPr>
            <a:r>
              <a:rPr sz="3225" b="1">
                <a:solidFill>
                  <a:srgbClr val="B33B42"/>
                </a:solidFill>
                <a:latin typeface="Arial"/>
                <a:ea typeface="Arial"/>
                <a:cs typeface="Arial"/>
              </a:rPr>
              <a:t>108</a:t>
            </a:r>
          </a:p>
        </p:txBody>
      </p:sp>
      <p:sp>
        <p:nvSpPr>
          <p:cNvPr id="18" name="">
            <a:extLst xmlns:a="http://schemas.openxmlformats.org/drawingml/2006/main">
              <a:ext uri="{FF2B5EF4-FFF2-40B4-BE49-F238E27FC236}">
                <a16:creationId xmlns:a16="http://schemas.microsoft.com/office/drawing/2014/main" id="{D7CC87D8-3390-454A-AFC1-17974F9E9BB8}"/>
              </a:ext>
            </a:extLst>
          </p:cNvPr>
          <p:cNvSpPr>
            <a:spLocks xmlns:a="http://schemas.openxmlformats.org/drawingml/2006/main" noGrp="1"/>
          </p:cNvSpPr>
          <p:nvPr/>
        </p:nvSpPr>
        <p:spPr>
          <a:xfrm xmlns:a="http://schemas.openxmlformats.org/drawingml/2006/main">
            <a:off x="9239250" y="2733675"/>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montants négatifs</a:t>
            </a:r>
          </a:p>
        </p:txBody>
      </p:sp>
      <p:sp>
        <p:nvSpPr>
          <p:cNvPr id="19" name="">
            <a:extLst xmlns:a="http://schemas.openxmlformats.org/drawingml/2006/main">
              <a:ext uri="{FF2B5EF4-FFF2-40B4-BE49-F238E27FC236}">
                <a16:creationId xmlns:a16="http://schemas.microsoft.com/office/drawing/2014/main" id="{F39DA70F-7124-412B-B613-9A2582835D32}"/>
              </a:ext>
            </a:extLst>
          </p:cNvPr>
          <p:cNvSpPr>
            <a:spLocks xmlns:a="http://schemas.openxmlformats.org/drawingml/2006/main" noGrp="1"/>
          </p:cNvSpPr>
          <p:nvPr/>
        </p:nvSpPr>
        <p:spPr>
          <a:xfrm xmlns:a="http://schemas.openxmlformats.org/drawingml/2006/main">
            <a:off x="666750" y="4171950"/>
            <a:ext cx="10858500" cy="1257300"/>
          </a:xfrm>
          <a:prstGeom xmlns:a="http://schemas.openxmlformats.org/drawingml/2006/main" prst="rect">
            <a:avLst/>
          </a:prstGeom>
          <a:solidFill xmlns:a="http://schemas.openxmlformats.org/drawingml/2006/main">
            <a:srgbClr val="F7FAF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70DD8BE-F460-4E0C-9866-22C0FD7048C5}"/>
              </a:ext>
            </a:extLst>
          </p:cNvPr>
          <p:cNvSpPr>
            <a:spLocks xmlns:a="http://schemas.openxmlformats.org/drawingml/2006/main" noGrp="1"/>
          </p:cNvSpPr>
          <p:nvPr/>
        </p:nvSpPr>
        <p:spPr>
          <a:xfrm xmlns:a="http://schemas.openxmlformats.org/drawingml/2006/main">
            <a:off x="876300" y="43719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102A35"/>
                </a:solidFill>
                <a:latin typeface="Arial"/>
                <a:ea typeface="Arial"/>
                <a:cs typeface="Arial"/>
              </a:defRPr>
            </a:pPr>
            <a:r>
              <a:rPr sz="1650" b="1">
                <a:solidFill>
                  <a:srgbClr val="102A35"/>
                </a:solidFill>
                <a:latin typeface="Arial"/>
                <a:ea typeface="Arial"/>
                <a:cs typeface="Arial"/>
              </a:rPr>
              <a:t>Deux absences déterminantes</a:t>
            </a:r>
          </a:p>
        </p:txBody>
      </p:sp>
      <p:sp>
        <p:nvSpPr>
          <p:cNvPr id="21" name="">
            <a:extLst xmlns:a="http://schemas.openxmlformats.org/drawingml/2006/main">
              <a:ext uri="{FF2B5EF4-FFF2-40B4-BE49-F238E27FC236}">
                <a16:creationId xmlns:a16="http://schemas.microsoft.com/office/drawing/2014/main" id="{D8C55C49-B590-4EF6-B641-4016F3AF45EE}"/>
              </a:ext>
            </a:extLst>
          </p:cNvPr>
          <p:cNvSpPr>
            <a:spLocks xmlns:a="http://schemas.openxmlformats.org/drawingml/2006/main" noGrp="1"/>
          </p:cNvSpPr>
          <p:nvPr/>
        </p:nvSpPr>
        <p:spPr>
          <a:xfrm xmlns:a="http://schemas.openxmlformats.org/drawingml/2006/main">
            <a:off x="876300" y="47910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Pas d’identifiant d’admission dans la source ; pas de règle métier permettant de supprimer un doublon ou d’invalider un montant négatif.</a:t>
            </a:r>
          </a:p>
        </p:txBody>
      </p:sp>
    </p:spTree>
    <p:extLst>
      <p:ext uri="{BB962C8B-B14F-4D97-AF65-F5344CB8AC3E}">
        <p14:creationId xmlns:p14="http://schemas.microsoft.com/office/powerpoint/2010/main" val="6904465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D331833-B1A9-4A25-A85B-68FC82A37E2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85AA53-41E1-4F26-80FB-C37D3EDC866E}"/>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QUALITÉ DES DONNÉES</a:t>
            </a:r>
          </a:p>
        </p:txBody>
      </p:sp>
      <p:sp>
        <p:nvSpPr>
          <p:cNvPr id="3" name="">
            <a:extLst xmlns:a="http://schemas.openxmlformats.org/drawingml/2006/main">
              <a:ext uri="{FF2B5EF4-FFF2-40B4-BE49-F238E27FC236}">
                <a16:creationId xmlns:a16="http://schemas.microsoft.com/office/drawing/2014/main" id="{D70AE3B8-4A97-4B7A-8F0E-A98EA27E8BB6}"/>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Décisions prises sur les anomalies</a:t>
            </a:r>
          </a:p>
        </p:txBody>
      </p:sp>
      <p:sp>
        <p:nvSpPr>
          <p:cNvPr id="4" name="">
            <a:extLst xmlns:a="http://schemas.openxmlformats.org/drawingml/2006/main">
              <a:ext uri="{FF2B5EF4-FFF2-40B4-BE49-F238E27FC236}">
                <a16:creationId xmlns:a16="http://schemas.microsoft.com/office/drawing/2014/main" id="{F7FBB01C-0ECA-4952-A615-E5612AB8CFF2}"/>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4D8405-E770-4998-B9E4-4A06F4B4CB14}"/>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6D015AB6-3F61-4C50-BF5F-F007A26417D6}"/>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4958DF09-B65A-4C46-8BA6-CE59B41B70C2}"/>
              </a:ext>
            </a:extLst>
          </p:cNvPr>
          <p:cNvSpPr>
            <a:spLocks xmlns:a="http://schemas.openxmlformats.org/drawingml/2006/main" noGrp="1"/>
          </p:cNvSpPr>
          <p:nvPr/>
        </p:nvSpPr>
        <p:spPr>
          <a:xfrm xmlns:a="http://schemas.openxmlformats.org/drawingml/2006/main">
            <a:off x="666750" y="1676400"/>
            <a:ext cx="66675" cy="942975"/>
          </a:xfrm>
          <a:prstGeom xmlns:a="http://schemas.openxmlformats.org/drawingml/2006/main" prst="rect">
            <a:avLst/>
          </a:prstGeom>
          <a:solidFill xmlns:a="http://schemas.openxmlformats.org/drawingml/2006/main">
            <a:srgbClr val="D18B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1B8D96-1CFF-4080-9A2A-F0195B966CED}"/>
              </a:ext>
            </a:extLst>
          </p:cNvPr>
          <p:cNvSpPr>
            <a:spLocks xmlns:a="http://schemas.openxmlformats.org/drawingml/2006/main" noGrp="1"/>
          </p:cNvSpPr>
          <p:nvPr/>
        </p:nvSpPr>
        <p:spPr>
          <a:xfrm xmlns:a="http://schemas.openxmlformats.org/drawingml/2006/main">
            <a:off x="942975" y="171450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Doublons</a:t>
            </a:r>
          </a:p>
        </p:txBody>
      </p:sp>
      <p:sp>
        <p:nvSpPr>
          <p:cNvPr id="9" name="">
            <a:extLst xmlns:a="http://schemas.openxmlformats.org/drawingml/2006/main">
              <a:ext uri="{FF2B5EF4-FFF2-40B4-BE49-F238E27FC236}">
                <a16:creationId xmlns:a16="http://schemas.microsoft.com/office/drawing/2014/main" id="{61649711-2A4C-4F9F-9B23-9AA77BCE9757}"/>
              </a:ext>
            </a:extLst>
          </p:cNvPr>
          <p:cNvSpPr>
            <a:spLocks xmlns:a="http://schemas.openxmlformats.org/drawingml/2006/main" noGrp="1"/>
          </p:cNvSpPr>
          <p:nvPr/>
        </p:nvSpPr>
        <p:spPr>
          <a:xfrm xmlns:a="http://schemas.openxmlformats.org/drawingml/2006/main">
            <a:off x="3619500" y="171450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Conservés : 534 lignes supplémentaires. Un numéro de ligne technique évite de les confondre.</a:t>
            </a:r>
          </a:p>
        </p:txBody>
      </p:sp>
      <p:sp>
        <p:nvSpPr>
          <p:cNvPr id="10" name="">
            <a:extLst xmlns:a="http://schemas.openxmlformats.org/drawingml/2006/main">
              <a:ext uri="{FF2B5EF4-FFF2-40B4-BE49-F238E27FC236}">
                <a16:creationId xmlns:a16="http://schemas.microsoft.com/office/drawing/2014/main" id="{37C87159-6BD7-450D-8ECC-FD1BC5CF3317}"/>
              </a:ext>
            </a:extLst>
          </p:cNvPr>
          <p:cNvSpPr>
            <a:spLocks xmlns:a="http://schemas.openxmlformats.org/drawingml/2006/main" noGrp="1"/>
          </p:cNvSpPr>
          <p:nvPr/>
        </p:nvSpPr>
        <p:spPr>
          <a:xfrm xmlns:a="http://schemas.openxmlformats.org/drawingml/2006/main">
            <a:off x="942975" y="260985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988D87-8304-44BD-A4C1-9FCE719DD049}"/>
              </a:ext>
            </a:extLst>
          </p:cNvPr>
          <p:cNvSpPr>
            <a:spLocks xmlns:a="http://schemas.openxmlformats.org/drawingml/2006/main" noGrp="1"/>
          </p:cNvSpPr>
          <p:nvPr/>
        </p:nvSpPr>
        <p:spPr>
          <a:xfrm xmlns:a="http://schemas.openxmlformats.org/drawingml/2006/main">
            <a:off x="666750" y="2705100"/>
            <a:ext cx="66675" cy="942975"/>
          </a:xfrm>
          <a:prstGeom xmlns:a="http://schemas.openxmlformats.org/drawingml/2006/main" prst="rect">
            <a:avLst/>
          </a:prstGeom>
          <a:solidFill xmlns:a="http://schemas.openxmlformats.org/drawingml/2006/main">
            <a:srgbClr val="B33B4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FE0FE36-2C43-40D9-94AF-EA71201A051A}"/>
              </a:ext>
            </a:extLst>
          </p:cNvPr>
          <p:cNvSpPr>
            <a:spLocks xmlns:a="http://schemas.openxmlformats.org/drawingml/2006/main" noGrp="1"/>
          </p:cNvSpPr>
          <p:nvPr/>
        </p:nvSpPr>
        <p:spPr>
          <a:xfrm xmlns:a="http://schemas.openxmlformats.org/drawingml/2006/main">
            <a:off x="942975" y="274320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Montants</a:t>
            </a:r>
          </a:p>
        </p:txBody>
      </p:sp>
      <p:sp>
        <p:nvSpPr>
          <p:cNvPr id="13" name="">
            <a:extLst xmlns:a="http://schemas.openxmlformats.org/drawingml/2006/main">
              <a:ext uri="{FF2B5EF4-FFF2-40B4-BE49-F238E27FC236}">
                <a16:creationId xmlns:a16="http://schemas.microsoft.com/office/drawing/2014/main" id="{1980F56C-F5A3-42F8-9536-72B82BC29E22}"/>
              </a:ext>
            </a:extLst>
          </p:cNvPr>
          <p:cNvSpPr>
            <a:spLocks xmlns:a="http://schemas.openxmlformats.org/drawingml/2006/main" noGrp="1"/>
          </p:cNvSpPr>
          <p:nvPr/>
        </p:nvSpPr>
        <p:spPr>
          <a:xfrm xmlns:a="http://schemas.openxmlformats.org/drawingml/2006/main">
            <a:off x="3619500" y="274320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Conservés exactement en Decimal128, y compris 108 valeurs négatives à qualifier.</a:t>
            </a:r>
          </a:p>
        </p:txBody>
      </p:sp>
      <p:sp>
        <p:nvSpPr>
          <p:cNvPr id="14" name="">
            <a:extLst xmlns:a="http://schemas.openxmlformats.org/drawingml/2006/main">
              <a:ext uri="{FF2B5EF4-FFF2-40B4-BE49-F238E27FC236}">
                <a16:creationId xmlns:a16="http://schemas.microsoft.com/office/drawing/2014/main" id="{6CD76C85-F205-48BF-921E-47EF48CBDEF9}"/>
              </a:ext>
            </a:extLst>
          </p:cNvPr>
          <p:cNvSpPr>
            <a:spLocks xmlns:a="http://schemas.openxmlformats.org/drawingml/2006/main" noGrp="1"/>
          </p:cNvSpPr>
          <p:nvPr/>
        </p:nvSpPr>
        <p:spPr>
          <a:xfrm xmlns:a="http://schemas.openxmlformats.org/drawingml/2006/main">
            <a:off x="942975" y="363855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FCB92F6-A387-4C6D-8C64-A45A090724F9}"/>
              </a:ext>
            </a:extLst>
          </p:cNvPr>
          <p:cNvSpPr>
            <a:spLocks xmlns:a="http://schemas.openxmlformats.org/drawingml/2006/main" noGrp="1"/>
          </p:cNvSpPr>
          <p:nvPr/>
        </p:nvSpPr>
        <p:spPr>
          <a:xfrm xmlns:a="http://schemas.openxmlformats.org/drawingml/2006/main">
            <a:off x="666750" y="3733800"/>
            <a:ext cx="66675" cy="942975"/>
          </a:xfrm>
          <a:prstGeom xmlns:a="http://schemas.openxmlformats.org/drawingml/2006/main" prst="rect">
            <a:avLst/>
          </a:prstGeom>
          <a:solidFill xmlns:a="http://schemas.openxmlformats.org/drawingml/2006/main">
            <a:srgbClr val="2D668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9C8DD47-A201-494C-9566-A7EAC4522037}"/>
              </a:ext>
            </a:extLst>
          </p:cNvPr>
          <p:cNvSpPr>
            <a:spLocks xmlns:a="http://schemas.openxmlformats.org/drawingml/2006/main" noGrp="1"/>
          </p:cNvSpPr>
          <p:nvPr/>
        </p:nvSpPr>
        <p:spPr>
          <a:xfrm xmlns:a="http://schemas.openxmlformats.org/drawingml/2006/main">
            <a:off x="942975" y="377190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Dates</a:t>
            </a:r>
          </a:p>
        </p:txBody>
      </p:sp>
      <p:sp>
        <p:nvSpPr>
          <p:cNvPr id="17" name="">
            <a:extLst xmlns:a="http://schemas.openxmlformats.org/drawingml/2006/main">
              <a:ext uri="{FF2B5EF4-FFF2-40B4-BE49-F238E27FC236}">
                <a16:creationId xmlns:a16="http://schemas.microsoft.com/office/drawing/2014/main" id="{72B0F860-EBD3-44E0-9F97-6D2C7E1B167A}"/>
              </a:ext>
            </a:extLst>
          </p:cNvPr>
          <p:cNvSpPr>
            <a:spLocks xmlns:a="http://schemas.openxmlformats.org/drawingml/2006/main" noGrp="1"/>
          </p:cNvSpPr>
          <p:nvPr/>
        </p:nvSpPr>
        <p:spPr>
          <a:xfrm xmlns:a="http://schemas.openxmlformats.org/drawingml/2006/main">
            <a:off x="3619500" y="377190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Converties en date ISO sans heure ni fuseau ajoutés artificiellement.</a:t>
            </a:r>
          </a:p>
        </p:txBody>
      </p:sp>
      <p:sp>
        <p:nvSpPr>
          <p:cNvPr id="18" name="">
            <a:extLst xmlns:a="http://schemas.openxmlformats.org/drawingml/2006/main">
              <a:ext uri="{FF2B5EF4-FFF2-40B4-BE49-F238E27FC236}">
                <a16:creationId xmlns:a16="http://schemas.microsoft.com/office/drawing/2014/main" id="{EC73404D-18B1-46BB-B1B8-582FF98B45EE}"/>
              </a:ext>
            </a:extLst>
          </p:cNvPr>
          <p:cNvSpPr>
            <a:spLocks xmlns:a="http://schemas.openxmlformats.org/drawingml/2006/main" noGrp="1"/>
          </p:cNvSpPr>
          <p:nvPr/>
        </p:nvSpPr>
        <p:spPr>
          <a:xfrm xmlns:a="http://schemas.openxmlformats.org/drawingml/2006/main">
            <a:off x="942975" y="466725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15082B-3358-4B4E-8D2F-D6C20BF9B9F9}"/>
              </a:ext>
            </a:extLst>
          </p:cNvPr>
          <p:cNvSpPr>
            <a:spLocks xmlns:a="http://schemas.openxmlformats.org/drawingml/2006/main" noGrp="1"/>
          </p:cNvSpPr>
          <p:nvPr/>
        </p:nvSpPr>
        <p:spPr>
          <a:xfrm xmlns:a="http://schemas.openxmlformats.org/drawingml/2006/main">
            <a:off x="666750" y="4762500"/>
            <a:ext cx="66675" cy="942975"/>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16E7634-8A2A-47A3-957B-0E81671DF1F7}"/>
              </a:ext>
            </a:extLst>
          </p:cNvPr>
          <p:cNvSpPr>
            <a:spLocks xmlns:a="http://schemas.openxmlformats.org/drawingml/2006/main" noGrp="1"/>
          </p:cNvSpPr>
          <p:nvPr/>
        </p:nvSpPr>
        <p:spPr>
          <a:xfrm xmlns:a="http://schemas.openxmlformats.org/drawingml/2006/main">
            <a:off x="942975" y="4800600"/>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Vie privée</a:t>
            </a:r>
          </a:p>
        </p:txBody>
      </p:sp>
      <p:sp>
        <p:nvSpPr>
          <p:cNvPr id="21" name="">
            <a:extLst xmlns:a="http://schemas.openxmlformats.org/drawingml/2006/main">
              <a:ext uri="{FF2B5EF4-FFF2-40B4-BE49-F238E27FC236}">
                <a16:creationId xmlns:a16="http://schemas.microsoft.com/office/drawing/2014/main" id="{D33154FB-E09A-4F9D-8781-142CB5014175}"/>
              </a:ext>
            </a:extLst>
          </p:cNvPr>
          <p:cNvSpPr>
            <a:spLocks xmlns:a="http://schemas.openxmlformats.org/drawingml/2006/main" noGrp="1"/>
          </p:cNvSpPr>
          <p:nvPr/>
        </p:nvSpPr>
        <p:spPr>
          <a:xfrm xmlns:a="http://schemas.openxmlformats.org/drawingml/2006/main">
            <a:off x="3619500" y="4800600"/>
            <a:ext cx="7762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CSV, exports, sauvegardes et secrets exclus des fichiers à publier.</a:t>
            </a:r>
          </a:p>
        </p:txBody>
      </p:sp>
      <p:sp>
        <p:nvSpPr>
          <p:cNvPr id="22" name="">
            <a:extLst xmlns:a="http://schemas.openxmlformats.org/drawingml/2006/main">
              <a:ext uri="{FF2B5EF4-FFF2-40B4-BE49-F238E27FC236}">
                <a16:creationId xmlns:a16="http://schemas.microsoft.com/office/drawing/2014/main" id="{38A68B8B-AB6A-490F-BD51-B0D9C7F0A0C7}"/>
              </a:ext>
            </a:extLst>
          </p:cNvPr>
          <p:cNvSpPr>
            <a:spLocks xmlns:a="http://schemas.openxmlformats.org/drawingml/2006/main" noGrp="1"/>
          </p:cNvSpPr>
          <p:nvPr/>
        </p:nvSpPr>
        <p:spPr>
          <a:xfrm xmlns:a="http://schemas.openxmlformats.org/drawingml/2006/main">
            <a:off x="942975" y="569595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Tree>
    <p:extLst>
      <p:ext uri="{BB962C8B-B14F-4D97-AF65-F5344CB8AC3E}">
        <p14:creationId xmlns:p14="http://schemas.microsoft.com/office/powerpoint/2010/main" val="16906652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3B6A6A0-CFD3-4AEB-9748-1C767F4AB2C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8F3814-A25A-455C-B923-53153FE7D3D8}"/>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SCHÉMA MONGODB</a:t>
            </a:r>
          </a:p>
        </p:txBody>
      </p:sp>
      <p:sp>
        <p:nvSpPr>
          <p:cNvPr id="3" name="">
            <a:extLst xmlns:a="http://schemas.openxmlformats.org/drawingml/2006/main">
              <a:ext uri="{FF2B5EF4-FFF2-40B4-BE49-F238E27FC236}">
                <a16:creationId xmlns:a16="http://schemas.microsoft.com/office/drawing/2014/main" id="{96D2B5B7-754C-48EF-B841-7880E1EBF22D}"/>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Un document par admission source</a:t>
            </a:r>
          </a:p>
        </p:txBody>
      </p:sp>
      <p:sp>
        <p:nvSpPr>
          <p:cNvPr id="4" name="">
            <a:extLst xmlns:a="http://schemas.openxmlformats.org/drawingml/2006/main">
              <a:ext uri="{FF2B5EF4-FFF2-40B4-BE49-F238E27FC236}">
                <a16:creationId xmlns:a16="http://schemas.microsoft.com/office/drawing/2014/main" id="{F268B114-5A3A-497D-A09E-E9300EC5114C}"/>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308C8C-B2C9-43D2-9D05-7F738A427AE7}"/>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D1FF143C-36A5-4F6D-B6FC-81F63B6DC1C7}"/>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0473DCA6-FA41-4C8C-8B7F-E6DD3C2350B6}"/>
              </a:ext>
            </a:extLst>
          </p:cNvPr>
          <p:cNvSpPr>
            <a:spLocks xmlns:a="http://schemas.openxmlformats.org/drawingml/2006/main" noGrp="1"/>
          </p:cNvSpPr>
          <p:nvPr/>
        </p:nvSpPr>
        <p:spPr>
          <a:xfrm xmlns:a="http://schemas.openxmlformats.org/drawingml/2006/main">
            <a:off x="666750" y="1724025"/>
            <a:ext cx="6572250" cy="3924300"/>
          </a:xfrm>
          <a:prstGeom xmlns:a="http://schemas.openxmlformats.org/drawingml/2006/main" prst="rect">
            <a:avLst/>
          </a:prstGeom>
          <a:solidFill xmlns:a="http://schemas.openxmlformats.org/drawingml/2006/main">
            <a:srgbClr val="F7FAFA"/>
          </a:solidFill>
          <a:ln xmlns:a="http://schemas.openxmlformats.org/drawingml/2006/main" w="9525">
            <a:solidFill>
              <a:srgbClr val="D7E0E3"/>
            </a:solidFill>
          </a:ln>
        </p:spPr>
      </p:sp>
      <p:sp>
        <p:nvSpPr>
          <p:cNvPr id="8" name="">
            <a:extLst xmlns:a="http://schemas.openxmlformats.org/drawingml/2006/main">
              <a:ext uri="{FF2B5EF4-FFF2-40B4-BE49-F238E27FC236}">
                <a16:creationId xmlns:a16="http://schemas.microsoft.com/office/drawing/2014/main" id="{B9191B34-2A44-4DF5-9286-C83DCCEF9AEA}"/>
              </a:ext>
            </a:extLst>
          </p:cNvPr>
          <p:cNvSpPr>
            <a:spLocks xmlns:a="http://schemas.openxmlformats.org/drawingml/2006/main" noGrp="1"/>
          </p:cNvSpPr>
          <p:nvPr/>
        </p:nvSpPr>
        <p:spPr>
          <a:xfrm xmlns:a="http://schemas.openxmlformats.org/drawingml/2006/main">
            <a:off x="904875" y="189547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A8176"/>
                </a:solidFill>
                <a:latin typeface="Arial"/>
                <a:ea typeface="Arial"/>
                <a:cs typeface="Arial"/>
              </a:defRPr>
            </a:pPr>
            <a:r>
              <a:rPr sz="1725" b="1">
                <a:solidFill>
                  <a:srgbClr val="0A8176"/>
                </a:solidFill>
                <a:latin typeface="Arial"/>
                <a:ea typeface="Arial"/>
                <a:cs typeface="Arial"/>
              </a:rPr>
              <a:t>admissions  /  exemple fictif</a:t>
            </a:r>
          </a:p>
        </p:txBody>
      </p:sp>
      <p:sp>
        <p:nvSpPr>
          <p:cNvPr id="9" name="">
            <a:extLst xmlns:a="http://schemas.openxmlformats.org/drawingml/2006/main">
              <a:ext uri="{FF2B5EF4-FFF2-40B4-BE49-F238E27FC236}">
                <a16:creationId xmlns:a16="http://schemas.microsoft.com/office/drawing/2014/main" id="{F0D09A1C-F5B4-4A20-BD19-4CD96C769BCF}"/>
              </a:ext>
            </a:extLst>
          </p:cNvPr>
          <p:cNvSpPr>
            <a:spLocks xmlns:a="http://schemas.openxmlformats.org/drawingml/2006/main" noGrp="1"/>
          </p:cNvSpPr>
          <p:nvPr/>
        </p:nvSpPr>
        <p:spPr>
          <a:xfrm xmlns:a="http://schemas.openxmlformats.org/drawingml/2006/main">
            <a:off x="904875" y="24193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82B37"/>
                </a:solidFill>
                <a:latin typeface="Arial"/>
                <a:ea typeface="Arial"/>
                <a:cs typeface="Arial"/>
              </a:defRPr>
            </a:pPr>
            <a:r>
              <a:rPr sz="1575" b="0">
                <a:solidFill>
                  <a:srgbClr val="182B37"/>
                </a:solidFill>
                <a:latin typeface="Arial"/>
                <a:ea typeface="Arial"/>
                <a:cs typeface="Arial"/>
              </a:rPr>
              <a:t>_id                 : SHA-256(source + ligne)</a:t>
            </a:r>
          </a:p>
        </p:txBody>
      </p:sp>
      <p:sp>
        <p:nvSpPr>
          <p:cNvPr id="10" name="">
            <a:extLst xmlns:a="http://schemas.openxmlformats.org/drawingml/2006/main">
              <a:ext uri="{FF2B5EF4-FFF2-40B4-BE49-F238E27FC236}">
                <a16:creationId xmlns:a16="http://schemas.microsoft.com/office/drawing/2014/main" id="{379C1167-E850-42AD-B5C5-191939C3C48E}"/>
              </a:ext>
            </a:extLst>
          </p:cNvPr>
          <p:cNvSpPr>
            <a:spLocks xmlns:a="http://schemas.openxmlformats.org/drawingml/2006/main" noGrp="1"/>
          </p:cNvSpPr>
          <p:nvPr/>
        </p:nvSpPr>
        <p:spPr>
          <a:xfrm xmlns:a="http://schemas.openxmlformats.org/drawingml/2006/main">
            <a:off x="904875" y="284797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82B37"/>
                </a:solidFill>
                <a:latin typeface="Arial"/>
                <a:ea typeface="Arial"/>
                <a:cs typeface="Arial"/>
              </a:defRPr>
            </a:pPr>
            <a:r>
              <a:rPr sz="1575" b="0">
                <a:solidFill>
                  <a:srgbClr val="182B37"/>
                </a:solidFill>
                <a:latin typeface="Arial"/>
                <a:ea typeface="Arial"/>
                <a:cs typeface="Arial"/>
              </a:rPr>
              <a:t>source_row           : 1</a:t>
            </a:r>
          </a:p>
        </p:txBody>
      </p:sp>
      <p:sp>
        <p:nvSpPr>
          <p:cNvPr id="11" name="">
            <a:extLst xmlns:a="http://schemas.openxmlformats.org/drawingml/2006/main">
              <a:ext uri="{FF2B5EF4-FFF2-40B4-BE49-F238E27FC236}">
                <a16:creationId xmlns:a16="http://schemas.microsoft.com/office/drawing/2014/main" id="{9EA6B3BB-92BF-4040-9FE5-FC05BD687AA8}"/>
              </a:ext>
            </a:extLst>
          </p:cNvPr>
          <p:cNvSpPr>
            <a:spLocks xmlns:a="http://schemas.openxmlformats.org/drawingml/2006/main" noGrp="1"/>
          </p:cNvSpPr>
          <p:nvPr/>
        </p:nvSpPr>
        <p:spPr>
          <a:xfrm xmlns:a="http://schemas.openxmlformats.org/drawingml/2006/main">
            <a:off x="904875" y="327660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82B37"/>
                </a:solidFill>
                <a:latin typeface="Arial"/>
                <a:ea typeface="Arial"/>
                <a:cs typeface="Arial"/>
              </a:defRPr>
            </a:pPr>
            <a:r>
              <a:rPr sz="1575" b="0">
                <a:solidFill>
                  <a:srgbClr val="182B37"/>
                </a:solidFill>
                <a:latin typeface="Arial"/>
                <a:ea typeface="Arial"/>
                <a:cs typeface="Arial"/>
              </a:rPr>
              <a:t>admission_date       : "2024-08-14"</a:t>
            </a:r>
          </a:p>
        </p:txBody>
      </p:sp>
      <p:sp>
        <p:nvSpPr>
          <p:cNvPr id="12" name="">
            <a:extLst xmlns:a="http://schemas.openxmlformats.org/drawingml/2006/main">
              <a:ext uri="{FF2B5EF4-FFF2-40B4-BE49-F238E27FC236}">
                <a16:creationId xmlns:a16="http://schemas.microsoft.com/office/drawing/2014/main" id="{F8FF9173-FFC0-4D19-95AF-2970062B8AE3}"/>
              </a:ext>
            </a:extLst>
          </p:cNvPr>
          <p:cNvSpPr>
            <a:spLocks xmlns:a="http://schemas.openxmlformats.org/drawingml/2006/main" noGrp="1"/>
          </p:cNvSpPr>
          <p:nvPr/>
        </p:nvSpPr>
        <p:spPr>
          <a:xfrm xmlns:a="http://schemas.openxmlformats.org/drawingml/2006/main">
            <a:off x="904875" y="370522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82B37"/>
                </a:solidFill>
                <a:latin typeface="Arial"/>
                <a:ea typeface="Arial"/>
                <a:cs typeface="Arial"/>
              </a:defRPr>
            </a:pPr>
            <a:r>
              <a:rPr sz="1575" b="0">
                <a:solidFill>
                  <a:srgbClr val="182B37"/>
                </a:solidFill>
                <a:latin typeface="Arial"/>
                <a:ea typeface="Arial"/>
                <a:cs typeface="Arial"/>
              </a:rPr>
              <a:t>billing_amount       : Decimal128("-12.50")</a:t>
            </a:r>
          </a:p>
        </p:txBody>
      </p:sp>
      <p:sp>
        <p:nvSpPr>
          <p:cNvPr id="13" name="">
            <a:extLst xmlns:a="http://schemas.openxmlformats.org/drawingml/2006/main">
              <a:ext uri="{FF2B5EF4-FFF2-40B4-BE49-F238E27FC236}">
                <a16:creationId xmlns:a16="http://schemas.microsoft.com/office/drawing/2014/main" id="{FAC6C0AA-7DD0-4D79-BED7-4AF3E82699EA}"/>
              </a:ext>
            </a:extLst>
          </p:cNvPr>
          <p:cNvSpPr>
            <a:spLocks xmlns:a="http://schemas.openxmlformats.org/drawingml/2006/main" noGrp="1"/>
          </p:cNvSpPr>
          <p:nvPr/>
        </p:nvSpPr>
        <p:spPr>
          <a:xfrm xmlns:a="http://schemas.openxmlformats.org/drawingml/2006/main">
            <a:off x="904875" y="41338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82B37"/>
                </a:solidFill>
                <a:latin typeface="Arial"/>
                <a:ea typeface="Arial"/>
                <a:cs typeface="Arial"/>
              </a:defRPr>
            </a:pPr>
            <a:r>
              <a:rPr sz="1575" b="0">
                <a:solidFill>
                  <a:srgbClr val="182B37"/>
                </a:solidFill>
                <a:latin typeface="Arial"/>
                <a:ea typeface="Arial"/>
                <a:cs typeface="Arial"/>
              </a:rPr>
              <a:t>patient_name         : texte source</a:t>
            </a:r>
          </a:p>
        </p:txBody>
      </p:sp>
      <p:sp>
        <p:nvSpPr>
          <p:cNvPr id="14" name="">
            <a:extLst xmlns:a="http://schemas.openxmlformats.org/drawingml/2006/main">
              <a:ext uri="{FF2B5EF4-FFF2-40B4-BE49-F238E27FC236}">
                <a16:creationId xmlns:a16="http://schemas.microsoft.com/office/drawing/2014/main" id="{7A412299-553F-4500-9ECD-A01F407A3E16}"/>
              </a:ext>
            </a:extLst>
          </p:cNvPr>
          <p:cNvSpPr>
            <a:spLocks xmlns:a="http://schemas.openxmlformats.org/drawingml/2006/main" noGrp="1"/>
          </p:cNvSpPr>
          <p:nvPr/>
        </p:nvSpPr>
        <p:spPr>
          <a:xfrm xmlns:a="http://schemas.openxmlformats.org/drawingml/2006/main">
            <a:off x="904875" y="4562475"/>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82B37"/>
                </a:solidFill>
                <a:latin typeface="Arial"/>
                <a:ea typeface="Arial"/>
                <a:cs typeface="Arial"/>
              </a:defRPr>
            </a:pPr>
            <a:r>
              <a:rPr sz="1575" b="0">
                <a:solidFill>
                  <a:srgbClr val="182B37"/>
                </a:solidFill>
                <a:latin typeface="Arial"/>
                <a:ea typeface="Arial"/>
                <a:cs typeface="Arial"/>
              </a:rPr>
              <a:t>medical_condition    : texte source</a:t>
            </a:r>
          </a:p>
        </p:txBody>
      </p:sp>
      <p:sp>
        <p:nvSpPr>
          <p:cNvPr id="15" name="">
            <a:extLst xmlns:a="http://schemas.openxmlformats.org/drawingml/2006/main">
              <a:ext uri="{FF2B5EF4-FFF2-40B4-BE49-F238E27FC236}">
                <a16:creationId xmlns:a16="http://schemas.microsoft.com/office/drawing/2014/main" id="{5B36EE6A-CD41-4978-A3D9-8E63861069DB}"/>
              </a:ext>
            </a:extLst>
          </p:cNvPr>
          <p:cNvSpPr>
            <a:spLocks xmlns:a="http://schemas.openxmlformats.org/drawingml/2006/main" noGrp="1"/>
          </p:cNvSpPr>
          <p:nvPr/>
        </p:nvSpPr>
        <p:spPr>
          <a:xfrm xmlns:a="http://schemas.openxmlformats.org/drawingml/2006/main">
            <a:off x="7667625" y="1895475"/>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02A35"/>
                </a:solidFill>
                <a:latin typeface="Arial"/>
                <a:ea typeface="Arial"/>
                <a:cs typeface="Arial"/>
              </a:defRPr>
            </a:pPr>
            <a:r>
              <a:rPr sz="1875" b="1">
                <a:solidFill>
                  <a:srgbClr val="102A35"/>
                </a:solidFill>
                <a:latin typeface="Arial"/>
                <a:ea typeface="Arial"/>
                <a:cs typeface="Arial"/>
              </a:rPr>
              <a:t>Index vérifiés</a:t>
            </a:r>
          </a:p>
        </p:txBody>
      </p:sp>
      <p:sp>
        <p:nvSpPr>
          <p:cNvPr id="16" name="">
            <a:extLst xmlns:a="http://schemas.openxmlformats.org/drawingml/2006/main">
              <a:ext uri="{FF2B5EF4-FFF2-40B4-BE49-F238E27FC236}">
                <a16:creationId xmlns:a16="http://schemas.microsoft.com/office/drawing/2014/main" id="{2375F683-07B8-49A0-A59A-C4C41E2CCB6E}"/>
              </a:ext>
            </a:extLst>
          </p:cNvPr>
          <p:cNvSpPr>
            <a:spLocks xmlns:a="http://schemas.openxmlformats.org/drawingml/2006/main" noGrp="1"/>
          </p:cNvSpPr>
          <p:nvPr/>
        </p:nvSpPr>
        <p:spPr>
          <a:xfrm xmlns:a="http://schemas.openxmlformats.org/drawingml/2006/main">
            <a:off x="7667625" y="2514600"/>
            <a:ext cx="66675" cy="638175"/>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9E0C1F9-3663-4319-B373-86B9597AB5B8}"/>
              </a:ext>
            </a:extLst>
          </p:cNvPr>
          <p:cNvSpPr>
            <a:spLocks xmlns:a="http://schemas.openxmlformats.org/drawingml/2006/main" noGrp="1"/>
          </p:cNvSpPr>
          <p:nvPr/>
        </p:nvSpPr>
        <p:spPr>
          <a:xfrm xmlns:a="http://schemas.openxmlformats.org/drawingml/2006/main">
            <a:off x="7867650" y="25336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A8176"/>
                </a:solidFill>
                <a:latin typeface="Arial"/>
                <a:ea typeface="Arial"/>
                <a:cs typeface="Arial"/>
              </a:defRPr>
            </a:pPr>
            <a:r>
              <a:rPr sz="1650" b="1">
                <a:solidFill>
                  <a:srgbClr val="0A8176"/>
                </a:solidFill>
                <a:latin typeface="Arial"/>
                <a:ea typeface="Arial"/>
                <a:cs typeface="Arial"/>
              </a:rPr>
              <a:t>Unique</a:t>
            </a:r>
          </a:p>
        </p:txBody>
      </p:sp>
      <p:sp>
        <p:nvSpPr>
          <p:cNvPr id="18" name="">
            <a:extLst xmlns:a="http://schemas.openxmlformats.org/drawingml/2006/main">
              <a:ext uri="{FF2B5EF4-FFF2-40B4-BE49-F238E27FC236}">
                <a16:creationId xmlns:a16="http://schemas.microsoft.com/office/drawing/2014/main" id="{4E2E9512-9EE4-42D2-AE8F-276AC403AD0D}"/>
              </a:ext>
            </a:extLst>
          </p:cNvPr>
          <p:cNvSpPr>
            <a:spLocks xmlns:a="http://schemas.openxmlformats.org/drawingml/2006/main" noGrp="1"/>
          </p:cNvSpPr>
          <p:nvPr/>
        </p:nvSpPr>
        <p:spPr>
          <a:xfrm xmlns:a="http://schemas.openxmlformats.org/drawingml/2006/main">
            <a:off x="7867650" y="28670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82B37"/>
                </a:solidFill>
                <a:latin typeface="Arial"/>
                <a:ea typeface="Arial"/>
                <a:cs typeface="Arial"/>
              </a:defRPr>
            </a:pPr>
            <a:r>
              <a:rPr sz="1350" b="0">
                <a:solidFill>
                  <a:srgbClr val="182B37"/>
                </a:solidFill>
                <a:latin typeface="Arial"/>
                <a:ea typeface="Arial"/>
                <a:cs typeface="Arial"/>
              </a:rPr>
              <a:t>source_sha256 + source_row</a:t>
            </a:r>
          </a:p>
        </p:txBody>
      </p:sp>
      <p:sp>
        <p:nvSpPr>
          <p:cNvPr id="19" name="">
            <a:extLst xmlns:a="http://schemas.openxmlformats.org/drawingml/2006/main">
              <a:ext uri="{FF2B5EF4-FFF2-40B4-BE49-F238E27FC236}">
                <a16:creationId xmlns:a16="http://schemas.microsoft.com/office/drawing/2014/main" id="{5DD33C1C-FCEE-4E54-A832-A7FA2E90251C}"/>
              </a:ext>
            </a:extLst>
          </p:cNvPr>
          <p:cNvSpPr>
            <a:spLocks xmlns:a="http://schemas.openxmlformats.org/drawingml/2006/main" noGrp="1"/>
          </p:cNvSpPr>
          <p:nvPr/>
        </p:nvSpPr>
        <p:spPr>
          <a:xfrm xmlns:a="http://schemas.openxmlformats.org/drawingml/2006/main">
            <a:off x="7667625" y="369570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2D668A"/>
                </a:solidFill>
                <a:latin typeface="Arial"/>
                <a:ea typeface="Arial"/>
                <a:cs typeface="Arial"/>
              </a:defRPr>
            </a:pPr>
            <a:r>
              <a:rPr sz="1650" b="1">
                <a:solidFill>
                  <a:srgbClr val="2D668A"/>
                </a:solidFill>
                <a:latin typeface="Arial"/>
                <a:ea typeface="Arial"/>
                <a:cs typeface="Arial"/>
              </a:rPr>
              <a:t>admission_date</a:t>
            </a:r>
          </a:p>
        </p:txBody>
      </p:sp>
      <p:sp>
        <p:nvSpPr>
          <p:cNvPr id="20" name="">
            <a:extLst xmlns:a="http://schemas.openxmlformats.org/drawingml/2006/main">
              <a:ext uri="{FF2B5EF4-FFF2-40B4-BE49-F238E27FC236}">
                <a16:creationId xmlns:a16="http://schemas.microsoft.com/office/drawing/2014/main" id="{F49A36E9-8BB2-4B0C-B85C-C7F868C58737}"/>
              </a:ext>
            </a:extLst>
          </p:cNvPr>
          <p:cNvSpPr>
            <a:spLocks xmlns:a="http://schemas.openxmlformats.org/drawingml/2006/main" noGrp="1"/>
          </p:cNvSpPr>
          <p:nvPr/>
        </p:nvSpPr>
        <p:spPr>
          <a:xfrm xmlns:a="http://schemas.openxmlformats.org/drawingml/2006/main">
            <a:off x="7667625" y="4181475"/>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2D668A"/>
                </a:solidFill>
                <a:latin typeface="Arial"/>
                <a:ea typeface="Arial"/>
                <a:cs typeface="Arial"/>
              </a:defRPr>
            </a:pPr>
            <a:r>
              <a:rPr sz="1650" b="1">
                <a:solidFill>
                  <a:srgbClr val="2D668A"/>
                </a:solidFill>
                <a:latin typeface="Arial"/>
                <a:ea typeface="Arial"/>
                <a:cs typeface="Arial"/>
              </a:rPr>
              <a:t>condition + date</a:t>
            </a:r>
          </a:p>
        </p:txBody>
      </p:sp>
      <p:sp>
        <p:nvSpPr>
          <p:cNvPr id="21" name="">
            <a:extLst xmlns:a="http://schemas.openxmlformats.org/drawingml/2006/main">
              <a:ext uri="{FF2B5EF4-FFF2-40B4-BE49-F238E27FC236}">
                <a16:creationId xmlns:a16="http://schemas.microsoft.com/office/drawing/2014/main" id="{ED558F00-BCC6-4308-A25D-633C8011C79C}"/>
              </a:ext>
            </a:extLst>
          </p:cNvPr>
          <p:cNvSpPr>
            <a:spLocks xmlns:a="http://schemas.openxmlformats.org/drawingml/2006/main" noGrp="1"/>
          </p:cNvSpPr>
          <p:nvPr/>
        </p:nvSpPr>
        <p:spPr>
          <a:xfrm xmlns:a="http://schemas.openxmlformats.org/drawingml/2006/main">
            <a:off x="7667625" y="50482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B33B42"/>
                </a:solidFill>
                <a:latin typeface="Arial"/>
                <a:ea typeface="Arial"/>
                <a:cs typeface="Arial"/>
              </a:defRPr>
            </a:pPr>
            <a:r>
              <a:rPr sz="1575" b="1">
                <a:solidFill>
                  <a:srgbClr val="B33B42"/>
                </a:solidFill>
                <a:latin typeface="Arial"/>
                <a:ea typeface="Arial"/>
                <a:cs typeface="Arial"/>
              </a:rPr>
              <a:t>Pas de clé métier inventée</a:t>
            </a:r>
          </a:p>
        </p:txBody>
      </p:sp>
    </p:spTree>
    <p:extLst>
      <p:ext uri="{BB962C8B-B14F-4D97-AF65-F5344CB8AC3E}">
        <p14:creationId xmlns:p14="http://schemas.microsoft.com/office/powerpoint/2010/main" val="12223877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516926E-F0CF-425A-AED0-CE4AF2CE9B1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AFEBEB-B870-4F66-9E9F-516EF0A2D17E}"/>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PIPELINE</a:t>
            </a:r>
          </a:p>
        </p:txBody>
      </p:sp>
      <p:sp>
        <p:nvSpPr>
          <p:cNvPr id="3" name="">
            <a:extLst xmlns:a="http://schemas.openxmlformats.org/drawingml/2006/main">
              <a:ext uri="{FF2B5EF4-FFF2-40B4-BE49-F238E27FC236}">
                <a16:creationId xmlns:a16="http://schemas.microsoft.com/office/drawing/2014/main" id="{6B2AEDA8-0331-4D61-9A57-F19463DD82A3}"/>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Migration contrôlée, relançable</a:t>
            </a:r>
          </a:p>
        </p:txBody>
      </p:sp>
      <p:sp>
        <p:nvSpPr>
          <p:cNvPr id="4" name="">
            <a:extLst xmlns:a="http://schemas.openxmlformats.org/drawingml/2006/main">
              <a:ext uri="{FF2B5EF4-FFF2-40B4-BE49-F238E27FC236}">
                <a16:creationId xmlns:a16="http://schemas.microsoft.com/office/drawing/2014/main" id="{68DF0689-8503-4E63-B16E-07CFA733F31C}"/>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783A4F-0B8F-4E45-85FE-19C24236E4E9}"/>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3D51396F-ABC4-4D05-B251-00C0F8817666}"/>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0905F2F4-42F0-44C2-8F81-BFF68028FF99}"/>
              </a:ext>
            </a:extLst>
          </p:cNvPr>
          <p:cNvSpPr>
            <a:spLocks xmlns:a="http://schemas.openxmlformats.org/drawingml/2006/main" noGrp="1"/>
          </p:cNvSpPr>
          <p:nvPr/>
        </p:nvSpPr>
        <p:spPr>
          <a:xfrm xmlns:a="http://schemas.openxmlformats.org/drawingml/2006/main">
            <a:off x="666750" y="2209800"/>
            <a:ext cx="2019300" cy="2428875"/>
          </a:xfrm>
          <a:prstGeom xmlns:a="http://schemas.openxmlformats.org/drawingml/2006/main" prst="rect">
            <a:avLst/>
          </a:prstGeom>
          <a:solidFill xmlns:a="http://schemas.openxmlformats.org/drawingml/2006/main">
            <a:srgbClr val="E5F3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E31D17-8913-4B82-9F85-F17C0EE5F9A1}"/>
              </a:ext>
            </a:extLst>
          </p:cNvPr>
          <p:cNvSpPr>
            <a:spLocks xmlns:a="http://schemas.openxmlformats.org/drawingml/2006/main" noGrp="1"/>
          </p:cNvSpPr>
          <p:nvPr/>
        </p:nvSpPr>
        <p:spPr>
          <a:xfrm xmlns:a="http://schemas.openxmlformats.org/drawingml/2006/main">
            <a:off x="819150" y="2381250"/>
            <a:ext cx="85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A8176"/>
                </a:solidFill>
                <a:latin typeface="Arial"/>
                <a:ea typeface="Arial"/>
                <a:cs typeface="Arial"/>
              </a:defRPr>
            </a:pPr>
            <a:r>
              <a:rPr sz="2925" b="1">
                <a:solidFill>
                  <a:srgbClr val="0A8176"/>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1BBF5994-AA83-4B02-ABB1-E16B4586ACB7}"/>
              </a:ext>
            </a:extLst>
          </p:cNvPr>
          <p:cNvSpPr>
            <a:spLocks xmlns:a="http://schemas.openxmlformats.org/drawingml/2006/main" noGrp="1"/>
          </p:cNvSpPr>
          <p:nvPr/>
        </p:nvSpPr>
        <p:spPr>
          <a:xfrm xmlns:a="http://schemas.openxmlformats.org/drawingml/2006/main">
            <a:off x="819150" y="3048000"/>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Source CSV</a:t>
            </a:r>
          </a:p>
        </p:txBody>
      </p:sp>
      <p:sp>
        <p:nvSpPr>
          <p:cNvPr id="10" name="">
            <a:extLst xmlns:a="http://schemas.openxmlformats.org/drawingml/2006/main">
              <a:ext uri="{FF2B5EF4-FFF2-40B4-BE49-F238E27FC236}">
                <a16:creationId xmlns:a16="http://schemas.microsoft.com/office/drawing/2014/main" id="{3CFBF167-A3DB-430E-B546-BD9D04696416}"/>
              </a:ext>
            </a:extLst>
          </p:cNvPr>
          <p:cNvSpPr>
            <a:spLocks xmlns:a="http://schemas.openxmlformats.org/drawingml/2006/main" noGrp="1"/>
          </p:cNvSpPr>
          <p:nvPr/>
        </p:nvSpPr>
        <p:spPr>
          <a:xfrm xmlns:a="http://schemas.openxmlformats.org/drawingml/2006/main">
            <a:off x="819150" y="3886200"/>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82B37"/>
                </a:solidFill>
                <a:latin typeface="Arial"/>
                <a:ea typeface="Arial"/>
                <a:cs typeface="Arial"/>
              </a:defRPr>
            </a:pPr>
            <a:r>
              <a:rPr sz="1275" b="0">
                <a:solidFill>
                  <a:srgbClr val="182B37"/>
                </a:solidFill>
                <a:latin typeface="Arial"/>
                <a:ea typeface="Arial"/>
                <a:cs typeface="Arial"/>
              </a:rPr>
              <a:t>empreinte SHA-256</a:t>
            </a:r>
          </a:p>
        </p:txBody>
      </p:sp>
      <p:sp>
        <p:nvSpPr>
          <p:cNvPr id="11" name="">
            <a:extLst xmlns:a="http://schemas.openxmlformats.org/drawingml/2006/main">
              <a:ext uri="{FF2B5EF4-FFF2-40B4-BE49-F238E27FC236}">
                <a16:creationId xmlns:a16="http://schemas.microsoft.com/office/drawing/2014/main" id="{E7C867C9-AFF0-4ED9-A525-0CB1A27E35DD}"/>
              </a:ext>
            </a:extLst>
          </p:cNvPr>
          <p:cNvSpPr>
            <a:spLocks xmlns:a="http://schemas.openxmlformats.org/drawingml/2006/main" noGrp="1"/>
          </p:cNvSpPr>
          <p:nvPr/>
        </p:nvSpPr>
        <p:spPr>
          <a:xfrm xmlns:a="http://schemas.openxmlformats.org/drawingml/2006/main">
            <a:off x="2647950" y="3048000"/>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18B2C"/>
                </a:solidFill>
                <a:latin typeface="Arial"/>
                <a:ea typeface="Arial"/>
                <a:cs typeface="Arial"/>
              </a:defRPr>
            </a:pPr>
            <a:r>
              <a:rPr sz="2025" b="1">
                <a:solidFill>
                  <a:srgbClr val="D18B2C"/>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8BAF20EB-8A3E-419F-859E-45684D594F64}"/>
              </a:ext>
            </a:extLst>
          </p:cNvPr>
          <p:cNvSpPr>
            <a:spLocks xmlns:a="http://schemas.openxmlformats.org/drawingml/2006/main" noGrp="1"/>
          </p:cNvSpPr>
          <p:nvPr/>
        </p:nvSpPr>
        <p:spPr>
          <a:xfrm xmlns:a="http://schemas.openxmlformats.org/drawingml/2006/main">
            <a:off x="2905125" y="2209800"/>
            <a:ext cx="2019300" cy="2428875"/>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08E20A-DB0F-45A0-AA78-F6DE83E97480}"/>
              </a:ext>
            </a:extLst>
          </p:cNvPr>
          <p:cNvSpPr>
            <a:spLocks xmlns:a="http://schemas.openxmlformats.org/drawingml/2006/main" noGrp="1"/>
          </p:cNvSpPr>
          <p:nvPr/>
        </p:nvSpPr>
        <p:spPr>
          <a:xfrm xmlns:a="http://schemas.openxmlformats.org/drawingml/2006/main">
            <a:off x="3057525" y="2381250"/>
            <a:ext cx="85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2D668A"/>
                </a:solidFill>
                <a:latin typeface="Arial"/>
                <a:ea typeface="Arial"/>
                <a:cs typeface="Arial"/>
              </a:defRPr>
            </a:pPr>
            <a:r>
              <a:rPr sz="2925" b="1">
                <a:solidFill>
                  <a:srgbClr val="2D668A"/>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BE92192-AB61-4330-AA30-A6B590137D85}"/>
              </a:ext>
            </a:extLst>
          </p:cNvPr>
          <p:cNvSpPr>
            <a:spLocks xmlns:a="http://schemas.openxmlformats.org/drawingml/2006/main" noGrp="1"/>
          </p:cNvSpPr>
          <p:nvPr/>
        </p:nvSpPr>
        <p:spPr>
          <a:xfrm xmlns:a="http://schemas.openxmlformats.org/drawingml/2006/main">
            <a:off x="3057525" y="3048000"/>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Préflight</a:t>
            </a:r>
          </a:p>
        </p:txBody>
      </p:sp>
      <p:sp>
        <p:nvSpPr>
          <p:cNvPr id="15" name="">
            <a:extLst xmlns:a="http://schemas.openxmlformats.org/drawingml/2006/main">
              <a:ext uri="{FF2B5EF4-FFF2-40B4-BE49-F238E27FC236}">
                <a16:creationId xmlns:a16="http://schemas.microsoft.com/office/drawing/2014/main" id="{C42807EE-9AF9-4B02-9CA9-7AD9D4C87D0E}"/>
              </a:ext>
            </a:extLst>
          </p:cNvPr>
          <p:cNvSpPr>
            <a:spLocks xmlns:a="http://schemas.openxmlformats.org/drawingml/2006/main" noGrp="1"/>
          </p:cNvSpPr>
          <p:nvPr/>
        </p:nvSpPr>
        <p:spPr>
          <a:xfrm xmlns:a="http://schemas.openxmlformats.org/drawingml/2006/main">
            <a:off x="3057525" y="3886200"/>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82B37"/>
                </a:solidFill>
                <a:latin typeface="Arial"/>
                <a:ea typeface="Arial"/>
                <a:cs typeface="Arial"/>
              </a:defRPr>
            </a:pPr>
            <a:r>
              <a:rPr sz="1275" b="0">
                <a:solidFill>
                  <a:srgbClr val="182B37"/>
                </a:solidFill>
                <a:latin typeface="Arial"/>
                <a:ea typeface="Arial"/>
                <a:cs typeface="Arial"/>
              </a:rPr>
              <a:t>55 500 / 15 / anomalies</a:t>
            </a:r>
          </a:p>
        </p:txBody>
      </p:sp>
      <p:sp>
        <p:nvSpPr>
          <p:cNvPr id="16" name="">
            <a:extLst xmlns:a="http://schemas.openxmlformats.org/drawingml/2006/main">
              <a:ext uri="{FF2B5EF4-FFF2-40B4-BE49-F238E27FC236}">
                <a16:creationId xmlns:a16="http://schemas.microsoft.com/office/drawing/2014/main" id="{000D96A5-FB0C-4958-9F91-702016EB7E75}"/>
              </a:ext>
            </a:extLst>
          </p:cNvPr>
          <p:cNvSpPr>
            <a:spLocks xmlns:a="http://schemas.openxmlformats.org/drawingml/2006/main" noGrp="1"/>
          </p:cNvSpPr>
          <p:nvPr/>
        </p:nvSpPr>
        <p:spPr>
          <a:xfrm xmlns:a="http://schemas.openxmlformats.org/drawingml/2006/main">
            <a:off x="4886325" y="3048000"/>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18B2C"/>
                </a:solidFill>
                <a:latin typeface="Arial"/>
                <a:ea typeface="Arial"/>
                <a:cs typeface="Arial"/>
              </a:defRPr>
            </a:pPr>
            <a:r>
              <a:rPr sz="2025" b="1">
                <a:solidFill>
                  <a:srgbClr val="D18B2C"/>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F827BDE5-04B2-4AA1-85BA-9321E040233D}"/>
              </a:ext>
            </a:extLst>
          </p:cNvPr>
          <p:cNvSpPr>
            <a:spLocks xmlns:a="http://schemas.openxmlformats.org/drawingml/2006/main" noGrp="1"/>
          </p:cNvSpPr>
          <p:nvPr/>
        </p:nvSpPr>
        <p:spPr>
          <a:xfrm xmlns:a="http://schemas.openxmlformats.org/drawingml/2006/main">
            <a:off x="5143500" y="2209800"/>
            <a:ext cx="2019300" cy="2428875"/>
          </a:xfrm>
          <a:prstGeom xmlns:a="http://schemas.openxmlformats.org/drawingml/2006/main" prst="rect">
            <a:avLst/>
          </a:prstGeom>
          <a:solidFill xmlns:a="http://schemas.openxmlformats.org/drawingml/2006/main">
            <a:srgbClr val="E5F3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6392C95-4003-45F0-8DC6-431F76E199EC}"/>
              </a:ext>
            </a:extLst>
          </p:cNvPr>
          <p:cNvSpPr>
            <a:spLocks xmlns:a="http://schemas.openxmlformats.org/drawingml/2006/main" noGrp="1"/>
          </p:cNvSpPr>
          <p:nvPr/>
        </p:nvSpPr>
        <p:spPr>
          <a:xfrm xmlns:a="http://schemas.openxmlformats.org/drawingml/2006/main">
            <a:off x="5295900" y="2381250"/>
            <a:ext cx="85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A8176"/>
                </a:solidFill>
                <a:latin typeface="Arial"/>
                <a:ea typeface="Arial"/>
                <a:cs typeface="Arial"/>
              </a:defRPr>
            </a:pPr>
            <a:r>
              <a:rPr sz="2925" b="1">
                <a:solidFill>
                  <a:srgbClr val="0A8176"/>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2C2EC705-1C57-4424-9DCE-2582671A831B}"/>
              </a:ext>
            </a:extLst>
          </p:cNvPr>
          <p:cNvSpPr>
            <a:spLocks xmlns:a="http://schemas.openxmlformats.org/drawingml/2006/main" noGrp="1"/>
          </p:cNvSpPr>
          <p:nvPr/>
        </p:nvSpPr>
        <p:spPr>
          <a:xfrm xmlns:a="http://schemas.openxmlformats.org/drawingml/2006/main">
            <a:off x="5295900" y="3048000"/>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Conversion</a:t>
            </a:r>
          </a:p>
        </p:txBody>
      </p:sp>
      <p:sp>
        <p:nvSpPr>
          <p:cNvPr id="20" name="">
            <a:extLst xmlns:a="http://schemas.openxmlformats.org/drawingml/2006/main">
              <a:ext uri="{FF2B5EF4-FFF2-40B4-BE49-F238E27FC236}">
                <a16:creationId xmlns:a16="http://schemas.microsoft.com/office/drawing/2014/main" id="{ED8E2199-A1F8-4F58-A9BB-27396C3CEE44}"/>
              </a:ext>
            </a:extLst>
          </p:cNvPr>
          <p:cNvSpPr>
            <a:spLocks xmlns:a="http://schemas.openxmlformats.org/drawingml/2006/main" noGrp="1"/>
          </p:cNvSpPr>
          <p:nvPr/>
        </p:nvSpPr>
        <p:spPr>
          <a:xfrm xmlns:a="http://schemas.openxmlformats.org/drawingml/2006/main">
            <a:off x="5295900" y="3886200"/>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82B37"/>
                </a:solidFill>
                <a:latin typeface="Arial"/>
                <a:ea typeface="Arial"/>
                <a:cs typeface="Arial"/>
              </a:defRPr>
            </a:pPr>
            <a:r>
              <a:rPr sz="1275" b="0">
                <a:solidFill>
                  <a:srgbClr val="182B37"/>
                </a:solidFill>
                <a:latin typeface="Arial"/>
                <a:ea typeface="Arial"/>
                <a:cs typeface="Arial"/>
              </a:rPr>
              <a:t>types, dates, Decimal128</a:t>
            </a:r>
          </a:p>
        </p:txBody>
      </p:sp>
      <p:sp>
        <p:nvSpPr>
          <p:cNvPr id="21" name="">
            <a:extLst xmlns:a="http://schemas.openxmlformats.org/drawingml/2006/main">
              <a:ext uri="{FF2B5EF4-FFF2-40B4-BE49-F238E27FC236}">
                <a16:creationId xmlns:a16="http://schemas.microsoft.com/office/drawing/2014/main" id="{385AC260-861F-4777-B1B4-F463003E8726}"/>
              </a:ext>
            </a:extLst>
          </p:cNvPr>
          <p:cNvSpPr>
            <a:spLocks xmlns:a="http://schemas.openxmlformats.org/drawingml/2006/main" noGrp="1"/>
          </p:cNvSpPr>
          <p:nvPr/>
        </p:nvSpPr>
        <p:spPr>
          <a:xfrm xmlns:a="http://schemas.openxmlformats.org/drawingml/2006/main">
            <a:off x="7124700" y="3048000"/>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18B2C"/>
                </a:solidFill>
                <a:latin typeface="Arial"/>
                <a:ea typeface="Arial"/>
                <a:cs typeface="Arial"/>
              </a:defRPr>
            </a:pPr>
            <a:r>
              <a:rPr sz="2025" b="1">
                <a:solidFill>
                  <a:srgbClr val="D18B2C"/>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AED6144C-E115-44B5-A9FB-B95E356C6895}"/>
              </a:ext>
            </a:extLst>
          </p:cNvPr>
          <p:cNvSpPr>
            <a:spLocks xmlns:a="http://schemas.openxmlformats.org/drawingml/2006/main" noGrp="1"/>
          </p:cNvSpPr>
          <p:nvPr/>
        </p:nvSpPr>
        <p:spPr>
          <a:xfrm xmlns:a="http://schemas.openxmlformats.org/drawingml/2006/main">
            <a:off x="7381875" y="2209800"/>
            <a:ext cx="2019300" cy="2428875"/>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FF24FD9-63EA-43A1-9DDD-35D145C7FEA4}"/>
              </a:ext>
            </a:extLst>
          </p:cNvPr>
          <p:cNvSpPr>
            <a:spLocks xmlns:a="http://schemas.openxmlformats.org/drawingml/2006/main" noGrp="1"/>
          </p:cNvSpPr>
          <p:nvPr/>
        </p:nvSpPr>
        <p:spPr>
          <a:xfrm xmlns:a="http://schemas.openxmlformats.org/drawingml/2006/main">
            <a:off x="7534275" y="2381250"/>
            <a:ext cx="85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2D668A"/>
                </a:solidFill>
                <a:latin typeface="Arial"/>
                <a:ea typeface="Arial"/>
                <a:cs typeface="Arial"/>
              </a:defRPr>
            </a:pPr>
            <a:r>
              <a:rPr sz="2925" b="1">
                <a:solidFill>
                  <a:srgbClr val="2D668A"/>
                </a:solidFill>
                <a:latin typeface="Arial"/>
                <a:ea typeface="Arial"/>
                <a:cs typeface="Arial"/>
              </a:rPr>
              <a:t>04</a:t>
            </a:r>
          </a:p>
        </p:txBody>
      </p:sp>
      <p:sp>
        <p:nvSpPr>
          <p:cNvPr id="24" name="">
            <a:extLst xmlns:a="http://schemas.openxmlformats.org/drawingml/2006/main">
              <a:ext uri="{FF2B5EF4-FFF2-40B4-BE49-F238E27FC236}">
                <a16:creationId xmlns:a16="http://schemas.microsoft.com/office/drawing/2014/main" id="{D3D47C1E-CCCF-4B90-A519-E4A5F0B9AA99}"/>
              </a:ext>
            </a:extLst>
          </p:cNvPr>
          <p:cNvSpPr>
            <a:spLocks xmlns:a="http://schemas.openxmlformats.org/drawingml/2006/main" noGrp="1"/>
          </p:cNvSpPr>
          <p:nvPr/>
        </p:nvSpPr>
        <p:spPr>
          <a:xfrm xmlns:a="http://schemas.openxmlformats.org/drawingml/2006/main">
            <a:off x="7534275" y="3048000"/>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MongoDB</a:t>
            </a:r>
          </a:p>
        </p:txBody>
      </p:sp>
      <p:sp>
        <p:nvSpPr>
          <p:cNvPr id="25" name="">
            <a:extLst xmlns:a="http://schemas.openxmlformats.org/drawingml/2006/main">
              <a:ext uri="{FF2B5EF4-FFF2-40B4-BE49-F238E27FC236}">
                <a16:creationId xmlns:a16="http://schemas.microsoft.com/office/drawing/2014/main" id="{425C2B6B-0C4F-4647-B72D-61479D7B77F6}"/>
              </a:ext>
            </a:extLst>
          </p:cNvPr>
          <p:cNvSpPr>
            <a:spLocks xmlns:a="http://schemas.openxmlformats.org/drawingml/2006/main" noGrp="1"/>
          </p:cNvSpPr>
          <p:nvPr/>
        </p:nvSpPr>
        <p:spPr>
          <a:xfrm xmlns:a="http://schemas.openxmlformats.org/drawingml/2006/main">
            <a:off x="7534275" y="3886200"/>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82B37"/>
                </a:solidFill>
                <a:latin typeface="Arial"/>
                <a:ea typeface="Arial"/>
                <a:cs typeface="Arial"/>
              </a:defRPr>
            </a:pPr>
            <a:r>
              <a:rPr sz="1275" b="0">
                <a:solidFill>
                  <a:srgbClr val="182B37"/>
                </a:solidFill>
                <a:latin typeface="Arial"/>
                <a:ea typeface="Arial"/>
                <a:cs typeface="Arial"/>
              </a:rPr>
              <a:t>ReplaceOne + upsert</a:t>
            </a:r>
          </a:p>
        </p:txBody>
      </p:sp>
      <p:sp>
        <p:nvSpPr>
          <p:cNvPr id="26" name="">
            <a:extLst xmlns:a="http://schemas.openxmlformats.org/drawingml/2006/main">
              <a:ext uri="{FF2B5EF4-FFF2-40B4-BE49-F238E27FC236}">
                <a16:creationId xmlns:a16="http://schemas.microsoft.com/office/drawing/2014/main" id="{CA59F35C-6E9A-4C8C-A610-22208D444949}"/>
              </a:ext>
            </a:extLst>
          </p:cNvPr>
          <p:cNvSpPr>
            <a:spLocks xmlns:a="http://schemas.openxmlformats.org/drawingml/2006/main" noGrp="1"/>
          </p:cNvSpPr>
          <p:nvPr/>
        </p:nvSpPr>
        <p:spPr>
          <a:xfrm xmlns:a="http://schemas.openxmlformats.org/drawingml/2006/main">
            <a:off x="9363075" y="3048000"/>
            <a:ext cx="333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18B2C"/>
                </a:solidFill>
                <a:latin typeface="Arial"/>
                <a:ea typeface="Arial"/>
                <a:cs typeface="Arial"/>
              </a:defRPr>
            </a:pPr>
            <a:r>
              <a:rPr sz="2025" b="1">
                <a:solidFill>
                  <a:srgbClr val="D18B2C"/>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99948DB1-BB87-4291-A966-551EF08367D0}"/>
              </a:ext>
            </a:extLst>
          </p:cNvPr>
          <p:cNvSpPr>
            <a:spLocks xmlns:a="http://schemas.openxmlformats.org/drawingml/2006/main" noGrp="1"/>
          </p:cNvSpPr>
          <p:nvPr/>
        </p:nvSpPr>
        <p:spPr>
          <a:xfrm xmlns:a="http://schemas.openxmlformats.org/drawingml/2006/main">
            <a:off x="9620250" y="2209800"/>
            <a:ext cx="2019300" cy="2428875"/>
          </a:xfrm>
          <a:prstGeom xmlns:a="http://schemas.openxmlformats.org/drawingml/2006/main" prst="rect">
            <a:avLst/>
          </a:prstGeom>
          <a:solidFill xmlns:a="http://schemas.openxmlformats.org/drawingml/2006/main">
            <a:srgbClr val="E5F3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0DC6150-CDE9-406D-89F7-895C88ACB278}"/>
              </a:ext>
            </a:extLst>
          </p:cNvPr>
          <p:cNvSpPr>
            <a:spLocks xmlns:a="http://schemas.openxmlformats.org/drawingml/2006/main" noGrp="1"/>
          </p:cNvSpPr>
          <p:nvPr/>
        </p:nvSpPr>
        <p:spPr>
          <a:xfrm xmlns:a="http://schemas.openxmlformats.org/drawingml/2006/main">
            <a:off x="9772650" y="2381250"/>
            <a:ext cx="85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A8176"/>
                </a:solidFill>
                <a:latin typeface="Arial"/>
                <a:ea typeface="Arial"/>
                <a:cs typeface="Arial"/>
              </a:defRPr>
            </a:pPr>
            <a:r>
              <a:rPr sz="2925" b="1">
                <a:solidFill>
                  <a:srgbClr val="0A8176"/>
                </a:solidFill>
                <a:latin typeface="Arial"/>
                <a:ea typeface="Arial"/>
                <a:cs typeface="Arial"/>
              </a:rPr>
              <a:t>05</a:t>
            </a:r>
          </a:p>
        </p:txBody>
      </p:sp>
      <p:sp>
        <p:nvSpPr>
          <p:cNvPr id="29" name="">
            <a:extLst xmlns:a="http://schemas.openxmlformats.org/drawingml/2006/main">
              <a:ext uri="{FF2B5EF4-FFF2-40B4-BE49-F238E27FC236}">
                <a16:creationId xmlns:a16="http://schemas.microsoft.com/office/drawing/2014/main" id="{C63C93B5-A754-47B8-9B10-A2017979C61C}"/>
              </a:ext>
            </a:extLst>
          </p:cNvPr>
          <p:cNvSpPr>
            <a:spLocks xmlns:a="http://schemas.openxmlformats.org/drawingml/2006/main" noGrp="1"/>
          </p:cNvSpPr>
          <p:nvPr/>
        </p:nvSpPr>
        <p:spPr>
          <a:xfrm xmlns:a="http://schemas.openxmlformats.org/drawingml/2006/main">
            <a:off x="9772650" y="3048000"/>
            <a:ext cx="1762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Vérification</a:t>
            </a:r>
          </a:p>
        </p:txBody>
      </p:sp>
      <p:sp>
        <p:nvSpPr>
          <p:cNvPr id="30" name="">
            <a:extLst xmlns:a="http://schemas.openxmlformats.org/drawingml/2006/main">
              <a:ext uri="{FF2B5EF4-FFF2-40B4-BE49-F238E27FC236}">
                <a16:creationId xmlns:a16="http://schemas.microsoft.com/office/drawing/2014/main" id="{7207BB38-EDF0-4E44-8BA7-9A21BFACB082}"/>
              </a:ext>
            </a:extLst>
          </p:cNvPr>
          <p:cNvSpPr>
            <a:spLocks xmlns:a="http://schemas.openxmlformats.org/drawingml/2006/main" noGrp="1"/>
          </p:cNvSpPr>
          <p:nvPr/>
        </p:nvSpPr>
        <p:spPr>
          <a:xfrm xmlns:a="http://schemas.openxmlformats.org/drawingml/2006/main">
            <a:off x="9772650" y="3886200"/>
            <a:ext cx="1743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82B37"/>
                </a:solidFill>
                <a:latin typeface="Arial"/>
                <a:ea typeface="Arial"/>
                <a:cs typeface="Arial"/>
              </a:defRPr>
            </a:pPr>
            <a:r>
              <a:rPr sz="1275" b="0">
                <a:solidFill>
                  <a:srgbClr val="182B37"/>
                </a:solidFill>
                <a:latin typeface="Arial"/>
                <a:ea typeface="Arial"/>
                <a:cs typeface="Arial"/>
              </a:rPr>
              <a:t>55 500 contenus comparés</a:t>
            </a:r>
          </a:p>
        </p:txBody>
      </p:sp>
      <p:sp>
        <p:nvSpPr>
          <p:cNvPr id="31" name="">
            <a:extLst xmlns:a="http://schemas.openxmlformats.org/drawingml/2006/main">
              <a:ext uri="{FF2B5EF4-FFF2-40B4-BE49-F238E27FC236}">
                <a16:creationId xmlns:a16="http://schemas.microsoft.com/office/drawing/2014/main" id="{10CEC3D6-7D38-4BE1-906E-7220179A62B1}"/>
              </a:ext>
            </a:extLst>
          </p:cNvPr>
          <p:cNvSpPr>
            <a:spLocks xmlns:a="http://schemas.openxmlformats.org/drawingml/2006/main" noGrp="1"/>
          </p:cNvSpPr>
          <p:nvPr/>
        </p:nvSpPr>
        <p:spPr>
          <a:xfrm xmlns:a="http://schemas.openxmlformats.org/drawingml/2006/main">
            <a:off x="666750" y="5095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Relance : même _id par ligne  →  même nombre de documents</a:t>
            </a:r>
          </a:p>
        </p:txBody>
      </p:sp>
    </p:spTree>
    <p:extLst>
      <p:ext uri="{BB962C8B-B14F-4D97-AF65-F5344CB8AC3E}">
        <p14:creationId xmlns:p14="http://schemas.microsoft.com/office/powerpoint/2010/main" val="21085172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2C9F206-044D-4FA6-BB45-0FF14DA930C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0CDE0F-087B-451C-BE02-107128CFFDCC}"/>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ARCHITECTURE LOCALE</a:t>
            </a:r>
          </a:p>
        </p:txBody>
      </p:sp>
      <p:sp>
        <p:nvSpPr>
          <p:cNvPr id="3" name="">
            <a:extLst xmlns:a="http://schemas.openxmlformats.org/drawingml/2006/main">
              <a:ext uri="{FF2B5EF4-FFF2-40B4-BE49-F238E27FC236}">
                <a16:creationId xmlns:a16="http://schemas.microsoft.com/office/drawing/2014/main" id="{00030BBA-AA39-42BC-A88E-9ED6CAC0FAF7}"/>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Docker Compose : deux services, un volume</a:t>
            </a:r>
          </a:p>
        </p:txBody>
      </p:sp>
      <p:sp>
        <p:nvSpPr>
          <p:cNvPr id="4" name="">
            <a:extLst xmlns:a="http://schemas.openxmlformats.org/drawingml/2006/main">
              <a:ext uri="{FF2B5EF4-FFF2-40B4-BE49-F238E27FC236}">
                <a16:creationId xmlns:a16="http://schemas.microsoft.com/office/drawing/2014/main" id="{E96E12FF-10A0-42D9-AFFB-360009BB4D22}"/>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349114-569F-4211-BB09-AE0D5A91DCBA}"/>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38831154-03E4-4057-BA93-BEA36CAC95E2}"/>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1A1D0F9F-BA2E-41D5-A40A-03A3394F1A53}"/>
              </a:ext>
            </a:extLst>
          </p:cNvPr>
          <p:cNvSpPr>
            <a:spLocks xmlns:a="http://schemas.openxmlformats.org/drawingml/2006/main" noGrp="1"/>
          </p:cNvSpPr>
          <p:nvPr/>
        </p:nvSpPr>
        <p:spPr>
          <a:xfrm xmlns:a="http://schemas.openxmlformats.org/drawingml/2006/main">
            <a:off x="666750" y="1990725"/>
            <a:ext cx="10839450" cy="3324225"/>
          </a:xfrm>
          <a:prstGeom xmlns:a="http://schemas.openxmlformats.org/drawingml/2006/main" prst="rect">
            <a:avLst/>
          </a:prstGeom>
          <a:solidFill xmlns:a="http://schemas.openxmlformats.org/drawingml/2006/main">
            <a:srgbClr val="F7FAFA"/>
          </a:solidFill>
          <a:ln xmlns:a="http://schemas.openxmlformats.org/drawingml/2006/main" w="9525">
            <a:solidFill>
              <a:srgbClr val="D7E0E3"/>
            </a:solidFill>
          </a:ln>
        </p:spPr>
      </p:sp>
      <p:sp>
        <p:nvSpPr>
          <p:cNvPr id="8" name="">
            <a:extLst xmlns:a="http://schemas.openxmlformats.org/drawingml/2006/main">
              <a:ext uri="{FF2B5EF4-FFF2-40B4-BE49-F238E27FC236}">
                <a16:creationId xmlns:a16="http://schemas.microsoft.com/office/drawing/2014/main" id="{7D49B215-EF56-43E1-8219-116DF77ED3FB}"/>
              </a:ext>
            </a:extLst>
          </p:cNvPr>
          <p:cNvSpPr>
            <a:spLocks xmlns:a="http://schemas.openxmlformats.org/drawingml/2006/main" noGrp="1"/>
          </p:cNvSpPr>
          <p:nvPr/>
        </p:nvSpPr>
        <p:spPr>
          <a:xfrm xmlns:a="http://schemas.openxmlformats.org/drawingml/2006/main">
            <a:off x="952500" y="2381250"/>
            <a:ext cx="40957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0A8176"/>
            </a:solidFill>
          </a:ln>
        </p:spPr>
      </p:sp>
      <p:sp>
        <p:nvSpPr>
          <p:cNvPr id="9" name="">
            <a:extLst xmlns:a="http://schemas.openxmlformats.org/drawingml/2006/main">
              <a:ext uri="{FF2B5EF4-FFF2-40B4-BE49-F238E27FC236}">
                <a16:creationId xmlns:a16="http://schemas.microsoft.com/office/drawing/2014/main" id="{80CE6139-2BFC-4DB2-AF6B-BEC13D57A9FA}"/>
              </a:ext>
            </a:extLst>
          </p:cNvPr>
          <p:cNvSpPr>
            <a:spLocks xmlns:a="http://schemas.openxmlformats.org/drawingml/2006/main" noGrp="1"/>
          </p:cNvSpPr>
          <p:nvPr/>
        </p:nvSpPr>
        <p:spPr>
          <a:xfrm xmlns:a="http://schemas.openxmlformats.org/drawingml/2006/main">
            <a:off x="7143750" y="2381250"/>
            <a:ext cx="409575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2D668A"/>
            </a:solidFill>
          </a:ln>
        </p:spPr>
      </p:sp>
      <p:sp>
        <p:nvSpPr>
          <p:cNvPr id="10" name="">
            <a:extLst xmlns:a="http://schemas.openxmlformats.org/drawingml/2006/main">
              <a:ext uri="{FF2B5EF4-FFF2-40B4-BE49-F238E27FC236}">
                <a16:creationId xmlns:a16="http://schemas.microsoft.com/office/drawing/2014/main" id="{A422397E-8C66-4F07-BA60-D7273D324EF6}"/>
              </a:ext>
            </a:extLst>
          </p:cNvPr>
          <p:cNvSpPr>
            <a:spLocks xmlns:a="http://schemas.openxmlformats.org/drawingml/2006/main" noGrp="1"/>
          </p:cNvSpPr>
          <p:nvPr/>
        </p:nvSpPr>
        <p:spPr>
          <a:xfrm xmlns:a="http://schemas.openxmlformats.org/drawingml/2006/main">
            <a:off x="1219200" y="2609850"/>
            <a:ext cx="333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A8176"/>
                </a:solidFill>
                <a:latin typeface="Arial"/>
                <a:ea typeface="Arial"/>
                <a:cs typeface="Arial"/>
              </a:defRPr>
            </a:pPr>
            <a:r>
              <a:rPr sz="2325" b="1">
                <a:solidFill>
                  <a:srgbClr val="0A8176"/>
                </a:solidFill>
                <a:latin typeface="Arial"/>
                <a:ea typeface="Arial"/>
                <a:cs typeface="Arial"/>
              </a:rPr>
              <a:t>migrator</a:t>
            </a:r>
          </a:p>
        </p:txBody>
      </p:sp>
      <p:sp>
        <p:nvSpPr>
          <p:cNvPr id="11" name="">
            <a:extLst xmlns:a="http://schemas.openxmlformats.org/drawingml/2006/main">
              <a:ext uri="{FF2B5EF4-FFF2-40B4-BE49-F238E27FC236}">
                <a16:creationId xmlns:a16="http://schemas.microsoft.com/office/drawing/2014/main" id="{8EF113BD-F46F-400A-90DF-BB14A58B7B18}"/>
              </a:ext>
            </a:extLst>
          </p:cNvPr>
          <p:cNvSpPr>
            <a:spLocks xmlns:a="http://schemas.openxmlformats.org/drawingml/2006/main" noGrp="1"/>
          </p:cNvSpPr>
          <p:nvPr/>
        </p:nvSpPr>
        <p:spPr>
          <a:xfrm xmlns:a="http://schemas.openxmlformats.org/drawingml/2006/main">
            <a:off x="1219200" y="320992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Python 3.12  /  sortie 0</a:t>
            </a:r>
          </a:p>
        </p:txBody>
      </p:sp>
      <p:sp>
        <p:nvSpPr>
          <p:cNvPr id="12" name="">
            <a:extLst xmlns:a="http://schemas.openxmlformats.org/drawingml/2006/main">
              <a:ext uri="{FF2B5EF4-FFF2-40B4-BE49-F238E27FC236}">
                <a16:creationId xmlns:a16="http://schemas.microsoft.com/office/drawing/2014/main" id="{7F785A13-2316-4383-BA41-3C63CC806D5C}"/>
              </a:ext>
            </a:extLst>
          </p:cNvPr>
          <p:cNvSpPr>
            <a:spLocks xmlns:a="http://schemas.openxmlformats.org/drawingml/2006/main" noGrp="1"/>
          </p:cNvSpPr>
          <p:nvPr/>
        </p:nvSpPr>
        <p:spPr>
          <a:xfrm xmlns:a="http://schemas.openxmlformats.org/drawingml/2006/main">
            <a:off x="1219200" y="37242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5717B"/>
                </a:solidFill>
                <a:latin typeface="Arial"/>
                <a:ea typeface="Arial"/>
                <a:cs typeface="Arial"/>
              </a:defRPr>
            </a:pPr>
            <a:r>
              <a:rPr sz="1425" b="0">
                <a:solidFill>
                  <a:srgbClr val="55717B"/>
                </a:solidFill>
                <a:latin typeface="Arial"/>
                <a:ea typeface="Arial"/>
                <a:cs typeface="Arial"/>
              </a:rPr>
              <a:t>CSV en lecture seule</a:t>
            </a:r>
          </a:p>
        </p:txBody>
      </p:sp>
      <p:sp>
        <p:nvSpPr>
          <p:cNvPr id="13" name="">
            <a:extLst xmlns:a="http://schemas.openxmlformats.org/drawingml/2006/main">
              <a:ext uri="{FF2B5EF4-FFF2-40B4-BE49-F238E27FC236}">
                <a16:creationId xmlns:a16="http://schemas.microsoft.com/office/drawing/2014/main" id="{16EBF105-099D-4332-8525-D23427A3556B}"/>
              </a:ext>
            </a:extLst>
          </p:cNvPr>
          <p:cNvSpPr>
            <a:spLocks xmlns:a="http://schemas.openxmlformats.org/drawingml/2006/main" noGrp="1"/>
          </p:cNvSpPr>
          <p:nvPr/>
        </p:nvSpPr>
        <p:spPr>
          <a:xfrm xmlns:a="http://schemas.openxmlformats.org/drawingml/2006/main">
            <a:off x="7429500" y="2609850"/>
            <a:ext cx="333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2D668A"/>
                </a:solidFill>
                <a:latin typeface="Arial"/>
                <a:ea typeface="Arial"/>
                <a:cs typeface="Arial"/>
              </a:defRPr>
            </a:pPr>
            <a:r>
              <a:rPr sz="2325" b="1">
                <a:solidFill>
                  <a:srgbClr val="2D668A"/>
                </a:solidFill>
                <a:latin typeface="Arial"/>
                <a:ea typeface="Arial"/>
                <a:cs typeface="Arial"/>
              </a:rPr>
              <a:t>MongoDB 8.0.30</a:t>
            </a:r>
          </a:p>
        </p:txBody>
      </p:sp>
      <p:sp>
        <p:nvSpPr>
          <p:cNvPr id="14" name="">
            <a:extLst xmlns:a="http://schemas.openxmlformats.org/drawingml/2006/main">
              <a:ext uri="{FF2B5EF4-FFF2-40B4-BE49-F238E27FC236}">
                <a16:creationId xmlns:a16="http://schemas.microsoft.com/office/drawing/2014/main" id="{847BAF38-EF8B-46F6-BA9B-4E57D3C30F72}"/>
              </a:ext>
            </a:extLst>
          </p:cNvPr>
          <p:cNvSpPr>
            <a:spLocks xmlns:a="http://schemas.openxmlformats.org/drawingml/2006/main" noGrp="1"/>
          </p:cNvSpPr>
          <p:nvPr/>
        </p:nvSpPr>
        <p:spPr>
          <a:xfrm xmlns:a="http://schemas.openxmlformats.org/drawingml/2006/main">
            <a:off x="7429500" y="32099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utilisateurs + index</a:t>
            </a:r>
          </a:p>
        </p:txBody>
      </p:sp>
      <p:sp>
        <p:nvSpPr>
          <p:cNvPr id="15" name="">
            <a:extLst xmlns:a="http://schemas.openxmlformats.org/drawingml/2006/main">
              <a:ext uri="{FF2B5EF4-FFF2-40B4-BE49-F238E27FC236}">
                <a16:creationId xmlns:a16="http://schemas.microsoft.com/office/drawing/2014/main" id="{411492BB-3300-4B7F-96B4-5EE91B3AA6F3}"/>
              </a:ext>
            </a:extLst>
          </p:cNvPr>
          <p:cNvSpPr>
            <a:spLocks xmlns:a="http://schemas.openxmlformats.org/drawingml/2006/main" noGrp="1"/>
          </p:cNvSpPr>
          <p:nvPr/>
        </p:nvSpPr>
        <p:spPr>
          <a:xfrm xmlns:a="http://schemas.openxmlformats.org/drawingml/2006/main">
            <a:off x="7429500" y="37242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5717B"/>
                </a:solidFill>
                <a:latin typeface="Arial"/>
                <a:ea typeface="Arial"/>
                <a:cs typeface="Arial"/>
              </a:defRPr>
            </a:pPr>
            <a:r>
              <a:rPr sz="1425" b="0">
                <a:solidFill>
                  <a:srgbClr val="55717B"/>
                </a:solidFill>
                <a:latin typeface="Arial"/>
                <a:ea typeface="Arial"/>
                <a:cs typeface="Arial"/>
              </a:rPr>
              <a:t>volume persistant mongo_data</a:t>
            </a:r>
          </a:p>
        </p:txBody>
      </p:sp>
      <p:sp>
        <p:nvSpPr>
          <p:cNvPr id="16" name="">
            <a:extLst xmlns:a="http://schemas.openxmlformats.org/drawingml/2006/main">
              <a:ext uri="{FF2B5EF4-FFF2-40B4-BE49-F238E27FC236}">
                <a16:creationId xmlns:a16="http://schemas.microsoft.com/office/drawing/2014/main" id="{3D40DF69-C250-4910-9076-DAA6B3B47722}"/>
              </a:ext>
            </a:extLst>
          </p:cNvPr>
          <p:cNvSpPr>
            <a:spLocks xmlns:a="http://schemas.openxmlformats.org/drawingml/2006/main" noGrp="1"/>
          </p:cNvSpPr>
          <p:nvPr/>
        </p:nvSpPr>
        <p:spPr>
          <a:xfrm xmlns:a="http://schemas.openxmlformats.org/drawingml/2006/main">
            <a:off x="5695950" y="302895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D18B2C"/>
                </a:solidFill>
                <a:latin typeface="Arial"/>
                <a:ea typeface="Arial"/>
                <a:cs typeface="Arial"/>
              </a:defRPr>
            </a:pPr>
            <a:r>
              <a:rPr sz="3675" b="1">
                <a:solidFill>
                  <a:srgbClr val="D18B2C"/>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8907DEB0-2420-4639-B0B5-5D23D68DCCF1}"/>
              </a:ext>
            </a:extLst>
          </p:cNvPr>
          <p:cNvSpPr>
            <a:spLocks xmlns:a="http://schemas.openxmlformats.org/drawingml/2006/main" noGrp="1"/>
          </p:cNvSpPr>
          <p:nvPr/>
        </p:nvSpPr>
        <p:spPr>
          <a:xfrm xmlns:a="http://schemas.openxmlformats.org/drawingml/2006/main">
            <a:off x="1133475" y="4629150"/>
            <a:ext cx="981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p05_internal  |  3 secrets fichiers  |  port 127.0.0.1</a:t>
            </a:r>
          </a:p>
        </p:txBody>
      </p:sp>
    </p:spTree>
    <p:extLst>
      <p:ext uri="{BB962C8B-B14F-4D97-AF65-F5344CB8AC3E}">
        <p14:creationId xmlns:p14="http://schemas.microsoft.com/office/powerpoint/2010/main" val="6692977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5069C83-169E-4F1E-9F02-678DB791FE7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CD7473-7196-48B7-B726-F1EF65560A1A}"/>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SÉCURITÉ</a:t>
            </a:r>
          </a:p>
        </p:txBody>
      </p:sp>
      <p:sp>
        <p:nvSpPr>
          <p:cNvPr id="3" name="">
            <a:extLst xmlns:a="http://schemas.openxmlformats.org/drawingml/2006/main">
              <a:ext uri="{FF2B5EF4-FFF2-40B4-BE49-F238E27FC236}">
                <a16:creationId xmlns:a16="http://schemas.microsoft.com/office/drawing/2014/main" id="{4A6BC569-FAEC-42CC-B649-DFA502D87E20}"/>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Accès limités, mais confidentialité à renforcer</a:t>
            </a:r>
          </a:p>
        </p:txBody>
      </p:sp>
      <p:sp>
        <p:nvSpPr>
          <p:cNvPr id="4" name="">
            <a:extLst xmlns:a="http://schemas.openxmlformats.org/drawingml/2006/main">
              <a:ext uri="{FF2B5EF4-FFF2-40B4-BE49-F238E27FC236}">
                <a16:creationId xmlns:a16="http://schemas.microsoft.com/office/drawing/2014/main" id="{8ED255C5-9500-4BC9-9447-06964C698F4A}"/>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A05411-CB0A-42C7-AAA9-FD44ABE336C8}"/>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782B4A6E-FC02-4145-B661-D8E009135D55}"/>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16D43219-D220-4918-8641-C250920B4D8E}"/>
              </a:ext>
            </a:extLst>
          </p:cNvPr>
          <p:cNvSpPr>
            <a:spLocks xmlns:a="http://schemas.openxmlformats.org/drawingml/2006/main" noGrp="1"/>
          </p:cNvSpPr>
          <p:nvPr/>
        </p:nvSpPr>
        <p:spPr>
          <a:xfrm xmlns:a="http://schemas.openxmlformats.org/drawingml/2006/main">
            <a:off x="666750" y="1695450"/>
            <a:ext cx="3095625" cy="19050"/>
          </a:xfrm>
          <a:prstGeom xmlns:a="http://schemas.openxmlformats.org/drawingml/2006/main" prst="rect">
            <a:avLst/>
          </a:prstGeom>
          <a:solidFill xmlns:a="http://schemas.openxmlformats.org/drawingml/2006/main">
            <a:srgbClr val="102A3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8C8CC1C-5FA7-4F5D-A43D-48E0F681E720}"/>
              </a:ext>
            </a:extLst>
          </p:cNvPr>
          <p:cNvSpPr>
            <a:spLocks xmlns:a="http://schemas.openxmlformats.org/drawingml/2006/main" noGrp="1"/>
          </p:cNvSpPr>
          <p:nvPr/>
        </p:nvSpPr>
        <p:spPr>
          <a:xfrm xmlns:a="http://schemas.openxmlformats.org/drawingml/2006/main">
            <a:off x="666750" y="191452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A35"/>
                </a:solidFill>
                <a:latin typeface="Arial"/>
                <a:ea typeface="Arial"/>
                <a:cs typeface="Arial"/>
              </a:defRPr>
            </a:pPr>
            <a:r>
              <a:rPr sz="3225" b="1">
                <a:solidFill>
                  <a:srgbClr val="102A35"/>
                </a:solidFill>
                <a:latin typeface="Arial"/>
                <a:ea typeface="Arial"/>
                <a:cs typeface="Arial"/>
              </a:rPr>
              <a:t>Admin</a:t>
            </a:r>
          </a:p>
        </p:txBody>
      </p:sp>
      <p:sp>
        <p:nvSpPr>
          <p:cNvPr id="9" name="">
            <a:extLst xmlns:a="http://schemas.openxmlformats.org/drawingml/2006/main">
              <a:ext uri="{FF2B5EF4-FFF2-40B4-BE49-F238E27FC236}">
                <a16:creationId xmlns:a16="http://schemas.microsoft.com/office/drawing/2014/main" id="{722F9897-36ED-440E-A07A-2D8D41467514}"/>
              </a:ext>
            </a:extLst>
          </p:cNvPr>
          <p:cNvSpPr>
            <a:spLocks xmlns:a="http://schemas.openxmlformats.org/drawingml/2006/main" noGrp="1"/>
          </p:cNvSpPr>
          <p:nvPr/>
        </p:nvSpPr>
        <p:spPr>
          <a:xfrm xmlns:a="http://schemas.openxmlformats.org/drawingml/2006/main">
            <a:off x="666750" y="258127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initialisation et administration</a:t>
            </a:r>
          </a:p>
        </p:txBody>
      </p:sp>
      <p:sp>
        <p:nvSpPr>
          <p:cNvPr id="10" name="">
            <a:extLst xmlns:a="http://schemas.openxmlformats.org/drawingml/2006/main">
              <a:ext uri="{FF2B5EF4-FFF2-40B4-BE49-F238E27FC236}">
                <a16:creationId xmlns:a16="http://schemas.microsoft.com/office/drawing/2014/main" id="{E42EFF5E-7CA7-433B-862D-C51167E145EA}"/>
              </a:ext>
            </a:extLst>
          </p:cNvPr>
          <p:cNvSpPr>
            <a:spLocks xmlns:a="http://schemas.openxmlformats.org/drawingml/2006/main" noGrp="1"/>
          </p:cNvSpPr>
          <p:nvPr/>
        </p:nvSpPr>
        <p:spPr>
          <a:xfrm xmlns:a="http://schemas.openxmlformats.org/drawingml/2006/main">
            <a:off x="4286250" y="1695450"/>
            <a:ext cx="3095625" cy="1905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2B06439-7F9C-4D61-AE4E-B2AD6172A7C3}"/>
              </a:ext>
            </a:extLst>
          </p:cNvPr>
          <p:cNvSpPr>
            <a:spLocks xmlns:a="http://schemas.openxmlformats.org/drawingml/2006/main" noGrp="1"/>
          </p:cNvSpPr>
          <p:nvPr/>
        </p:nvSpPr>
        <p:spPr>
          <a:xfrm xmlns:a="http://schemas.openxmlformats.org/drawingml/2006/main">
            <a:off x="4286250" y="191452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A8176"/>
                </a:solidFill>
                <a:latin typeface="Arial"/>
                <a:ea typeface="Arial"/>
                <a:cs typeface="Arial"/>
              </a:defRPr>
            </a:pPr>
            <a:r>
              <a:rPr sz="3225" b="1">
                <a:solidFill>
                  <a:srgbClr val="0A8176"/>
                </a:solidFill>
                <a:latin typeface="Arial"/>
                <a:ea typeface="Arial"/>
                <a:cs typeface="Arial"/>
              </a:rPr>
              <a:t>Ingest</a:t>
            </a:r>
          </a:p>
        </p:txBody>
      </p:sp>
      <p:sp>
        <p:nvSpPr>
          <p:cNvPr id="12" name="">
            <a:extLst xmlns:a="http://schemas.openxmlformats.org/drawingml/2006/main">
              <a:ext uri="{FF2B5EF4-FFF2-40B4-BE49-F238E27FC236}">
                <a16:creationId xmlns:a16="http://schemas.microsoft.com/office/drawing/2014/main" id="{C0F0B3FA-9AB9-42CE-8503-2AF229F340DD}"/>
              </a:ext>
            </a:extLst>
          </p:cNvPr>
          <p:cNvSpPr>
            <a:spLocks xmlns:a="http://schemas.openxmlformats.org/drawingml/2006/main" noGrp="1"/>
          </p:cNvSpPr>
          <p:nvPr/>
        </p:nvSpPr>
        <p:spPr>
          <a:xfrm xmlns:a="http://schemas.openxmlformats.org/drawingml/2006/main">
            <a:off x="4286250" y="258127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lecture / écriture des admissions</a:t>
            </a:r>
          </a:p>
        </p:txBody>
      </p:sp>
      <p:sp>
        <p:nvSpPr>
          <p:cNvPr id="13" name="">
            <a:extLst xmlns:a="http://schemas.openxmlformats.org/drawingml/2006/main">
              <a:ext uri="{FF2B5EF4-FFF2-40B4-BE49-F238E27FC236}">
                <a16:creationId xmlns:a16="http://schemas.microsoft.com/office/drawing/2014/main" id="{7423A251-156A-40D4-AFBF-A01601B90364}"/>
              </a:ext>
            </a:extLst>
          </p:cNvPr>
          <p:cNvSpPr>
            <a:spLocks xmlns:a="http://schemas.openxmlformats.org/drawingml/2006/main" noGrp="1"/>
          </p:cNvSpPr>
          <p:nvPr/>
        </p:nvSpPr>
        <p:spPr>
          <a:xfrm xmlns:a="http://schemas.openxmlformats.org/drawingml/2006/main">
            <a:off x="7905750" y="1695450"/>
            <a:ext cx="3095625" cy="19050"/>
          </a:xfrm>
          <a:prstGeom xmlns:a="http://schemas.openxmlformats.org/drawingml/2006/main" prst="rect">
            <a:avLst/>
          </a:prstGeom>
          <a:solidFill xmlns:a="http://schemas.openxmlformats.org/drawingml/2006/main">
            <a:srgbClr val="2D668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CBEDFA5-C74A-4B2F-9FB7-1D18AC00A3C7}"/>
              </a:ext>
            </a:extLst>
          </p:cNvPr>
          <p:cNvSpPr>
            <a:spLocks xmlns:a="http://schemas.openxmlformats.org/drawingml/2006/main" noGrp="1"/>
          </p:cNvSpPr>
          <p:nvPr/>
        </p:nvSpPr>
        <p:spPr>
          <a:xfrm xmlns:a="http://schemas.openxmlformats.org/drawingml/2006/main">
            <a:off x="7905750" y="191452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2D668A"/>
                </a:solidFill>
                <a:latin typeface="Arial"/>
                <a:ea typeface="Arial"/>
                <a:cs typeface="Arial"/>
              </a:defRPr>
            </a:pPr>
            <a:r>
              <a:rPr sz="3225" b="1">
                <a:solidFill>
                  <a:srgbClr val="2D668A"/>
                </a:solidFill>
                <a:latin typeface="Arial"/>
                <a:ea typeface="Arial"/>
                <a:cs typeface="Arial"/>
              </a:rPr>
              <a:t>Reader</a:t>
            </a:r>
          </a:p>
        </p:txBody>
      </p:sp>
      <p:sp>
        <p:nvSpPr>
          <p:cNvPr id="15" name="">
            <a:extLst xmlns:a="http://schemas.openxmlformats.org/drawingml/2006/main">
              <a:ext uri="{FF2B5EF4-FFF2-40B4-BE49-F238E27FC236}">
                <a16:creationId xmlns:a16="http://schemas.microsoft.com/office/drawing/2014/main" id="{7FF85C48-EC9C-4291-BD4B-0A0F9AA0CE9D}"/>
              </a:ext>
            </a:extLst>
          </p:cNvPr>
          <p:cNvSpPr>
            <a:spLocks xmlns:a="http://schemas.openxmlformats.org/drawingml/2006/main" noGrp="1"/>
          </p:cNvSpPr>
          <p:nvPr/>
        </p:nvSpPr>
        <p:spPr>
          <a:xfrm xmlns:a="http://schemas.openxmlformats.org/drawingml/2006/main">
            <a:off x="7905750" y="2581275"/>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écriture refusée, données personnelles visibles</a:t>
            </a:r>
          </a:p>
        </p:txBody>
      </p:sp>
      <p:sp>
        <p:nvSpPr>
          <p:cNvPr id="16" name="">
            <a:extLst xmlns:a="http://schemas.openxmlformats.org/drawingml/2006/main">
              <a:ext uri="{FF2B5EF4-FFF2-40B4-BE49-F238E27FC236}">
                <a16:creationId xmlns:a16="http://schemas.microsoft.com/office/drawing/2014/main" id="{2B7ECA78-7FA4-442C-9F97-437EB43482F7}"/>
              </a:ext>
            </a:extLst>
          </p:cNvPr>
          <p:cNvSpPr>
            <a:spLocks xmlns:a="http://schemas.openxmlformats.org/drawingml/2006/main" noGrp="1"/>
          </p:cNvSpPr>
          <p:nvPr/>
        </p:nvSpPr>
        <p:spPr>
          <a:xfrm xmlns:a="http://schemas.openxmlformats.org/drawingml/2006/main">
            <a:off x="666750" y="3857625"/>
            <a:ext cx="10858500" cy="1504950"/>
          </a:xfrm>
          <a:prstGeom xmlns:a="http://schemas.openxmlformats.org/drawingml/2006/main" prst="rect">
            <a:avLst/>
          </a:prstGeom>
          <a:solidFill xmlns:a="http://schemas.openxmlformats.org/drawingml/2006/main">
            <a:srgbClr val="FBECE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CA2601D-5075-477B-9114-C44C79A019B2}"/>
              </a:ext>
            </a:extLst>
          </p:cNvPr>
          <p:cNvSpPr>
            <a:spLocks xmlns:a="http://schemas.openxmlformats.org/drawingml/2006/main" noGrp="1"/>
          </p:cNvSpPr>
          <p:nvPr/>
        </p:nvSpPr>
        <p:spPr>
          <a:xfrm xmlns:a="http://schemas.openxmlformats.org/drawingml/2006/main">
            <a:off x="895350" y="404812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33B42"/>
                </a:solidFill>
                <a:latin typeface="Arial"/>
                <a:ea typeface="Arial"/>
                <a:cs typeface="Arial"/>
              </a:defRPr>
            </a:pPr>
            <a:r>
              <a:rPr sz="1875" b="1">
                <a:solidFill>
                  <a:srgbClr val="B33B42"/>
                </a:solidFill>
                <a:latin typeface="Arial"/>
                <a:ea typeface="Arial"/>
                <a:cs typeface="Arial"/>
              </a:rPr>
              <a:t>Limite à ne pas masquer</a:t>
            </a:r>
          </a:p>
        </p:txBody>
      </p:sp>
      <p:sp>
        <p:nvSpPr>
          <p:cNvPr id="18" name="">
            <a:extLst xmlns:a="http://schemas.openxmlformats.org/drawingml/2006/main">
              <a:ext uri="{FF2B5EF4-FFF2-40B4-BE49-F238E27FC236}">
                <a16:creationId xmlns:a16="http://schemas.microsoft.com/office/drawing/2014/main" id="{44898C85-1466-48BC-B7D0-542CEE3072C0}"/>
              </a:ext>
            </a:extLst>
          </p:cNvPr>
          <p:cNvSpPr>
            <a:spLocks xmlns:a="http://schemas.openxmlformats.org/drawingml/2006/main" noGrp="1"/>
          </p:cNvSpPr>
          <p:nvPr/>
        </p:nvSpPr>
        <p:spPr>
          <a:xfrm xmlns:a="http://schemas.openxmlformats.org/drawingml/2006/main">
            <a:off x="895350" y="46291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Ces rôles ne créent ni anonymisation, ni sauvegarde hors poste, ni chiffrement TLS local. Une diffusion réelle impose une revue de confidentialité et un durcissement.</a:t>
            </a:r>
          </a:p>
        </p:txBody>
      </p:sp>
    </p:spTree>
    <p:extLst>
      <p:ext uri="{BB962C8B-B14F-4D97-AF65-F5344CB8AC3E}">
        <p14:creationId xmlns:p14="http://schemas.microsoft.com/office/powerpoint/2010/main" val="3879294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D5C5685-696D-4921-AC11-C101FD7F696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877ED4-621A-45CE-9803-91E58E951480}"/>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CONTRÔLES</a:t>
            </a:r>
          </a:p>
        </p:txBody>
      </p:sp>
      <p:sp>
        <p:nvSpPr>
          <p:cNvPr id="3" name="">
            <a:extLst xmlns:a="http://schemas.openxmlformats.org/drawingml/2006/main">
              <a:ext uri="{FF2B5EF4-FFF2-40B4-BE49-F238E27FC236}">
                <a16:creationId xmlns:a16="http://schemas.microsoft.com/office/drawing/2014/main" id="{5F6630F0-C8AD-487C-94E4-AA7580724BDD}"/>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Résultats des contrôles réels</a:t>
            </a:r>
          </a:p>
        </p:txBody>
      </p:sp>
      <p:sp>
        <p:nvSpPr>
          <p:cNvPr id="4" name="">
            <a:extLst xmlns:a="http://schemas.openxmlformats.org/drawingml/2006/main">
              <a:ext uri="{FF2B5EF4-FFF2-40B4-BE49-F238E27FC236}">
                <a16:creationId xmlns:a16="http://schemas.microsoft.com/office/drawing/2014/main" id="{8F11227C-84B8-4C84-AD95-3BD70A331F00}"/>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129756-714E-4FD8-BFB7-D4E4415D13F7}"/>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B034FE5C-9959-4D70-A8EE-4D2B17F0BEB0}"/>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FA38CF72-3B9D-47C1-91EB-9D506A2A8CD5}"/>
              </a:ext>
            </a:extLst>
          </p:cNvPr>
          <p:cNvSpPr>
            <a:spLocks xmlns:a="http://schemas.openxmlformats.org/drawingml/2006/main" noGrp="1"/>
          </p:cNvSpPr>
          <p:nvPr/>
        </p:nvSpPr>
        <p:spPr>
          <a:xfrm xmlns:a="http://schemas.openxmlformats.org/drawingml/2006/main">
            <a:off x="666750" y="1743075"/>
            <a:ext cx="2857500" cy="1905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BAE83E5-7D94-4CF1-ACF1-E9A742F4E452}"/>
              </a:ext>
            </a:extLst>
          </p:cNvPr>
          <p:cNvSpPr>
            <a:spLocks xmlns:a="http://schemas.openxmlformats.org/drawingml/2006/main" noGrp="1"/>
          </p:cNvSpPr>
          <p:nvPr/>
        </p:nvSpPr>
        <p:spPr>
          <a:xfrm xmlns:a="http://schemas.openxmlformats.org/drawingml/2006/main">
            <a:off x="666750" y="196215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A8176"/>
                </a:solidFill>
                <a:latin typeface="Arial"/>
                <a:ea typeface="Arial"/>
                <a:cs typeface="Arial"/>
              </a:defRPr>
            </a:pPr>
            <a:r>
              <a:rPr sz="3225" b="1">
                <a:solidFill>
                  <a:srgbClr val="0A8176"/>
                </a:solidFill>
                <a:latin typeface="Arial"/>
                <a:ea typeface="Arial"/>
                <a:cs typeface="Arial"/>
              </a:rPr>
              <a:t>8 / 8</a:t>
            </a:r>
          </a:p>
        </p:txBody>
      </p:sp>
      <p:sp>
        <p:nvSpPr>
          <p:cNvPr id="9" name="">
            <a:extLst xmlns:a="http://schemas.openxmlformats.org/drawingml/2006/main">
              <a:ext uri="{FF2B5EF4-FFF2-40B4-BE49-F238E27FC236}">
                <a16:creationId xmlns:a16="http://schemas.microsoft.com/office/drawing/2014/main" id="{A7886627-87B4-4A46-AD39-070FEE6DD484}"/>
              </a:ext>
            </a:extLst>
          </p:cNvPr>
          <p:cNvSpPr>
            <a:spLocks xmlns:a="http://schemas.openxmlformats.org/drawingml/2006/main" noGrp="1"/>
          </p:cNvSpPr>
          <p:nvPr/>
        </p:nvSpPr>
        <p:spPr>
          <a:xfrm xmlns:a="http://schemas.openxmlformats.org/drawingml/2006/main">
            <a:off x="666750" y="26289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tests automatisés en mémoire</a:t>
            </a:r>
          </a:p>
        </p:txBody>
      </p:sp>
      <p:sp>
        <p:nvSpPr>
          <p:cNvPr id="10" name="">
            <a:extLst xmlns:a="http://schemas.openxmlformats.org/drawingml/2006/main">
              <a:ext uri="{FF2B5EF4-FFF2-40B4-BE49-F238E27FC236}">
                <a16:creationId xmlns:a16="http://schemas.microsoft.com/office/drawing/2014/main" id="{8CC51BCB-7AEB-4F72-862A-D796A2F6E52A}"/>
              </a:ext>
            </a:extLst>
          </p:cNvPr>
          <p:cNvSpPr>
            <a:spLocks xmlns:a="http://schemas.openxmlformats.org/drawingml/2006/main" noGrp="1"/>
          </p:cNvSpPr>
          <p:nvPr/>
        </p:nvSpPr>
        <p:spPr>
          <a:xfrm xmlns:a="http://schemas.openxmlformats.org/drawingml/2006/main">
            <a:off x="4333875" y="1743075"/>
            <a:ext cx="2857500" cy="19050"/>
          </a:xfrm>
          <a:prstGeom xmlns:a="http://schemas.openxmlformats.org/drawingml/2006/main" prst="rect">
            <a:avLst/>
          </a:prstGeom>
          <a:solidFill xmlns:a="http://schemas.openxmlformats.org/drawingml/2006/main">
            <a:srgbClr val="2D66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9869C6-DD0B-49DE-8D9A-3DDBCC0A56B8}"/>
              </a:ext>
            </a:extLst>
          </p:cNvPr>
          <p:cNvSpPr>
            <a:spLocks xmlns:a="http://schemas.openxmlformats.org/drawingml/2006/main" noGrp="1"/>
          </p:cNvSpPr>
          <p:nvPr/>
        </p:nvSpPr>
        <p:spPr>
          <a:xfrm xmlns:a="http://schemas.openxmlformats.org/drawingml/2006/main">
            <a:off x="4333875" y="196215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2D668A"/>
                </a:solidFill>
                <a:latin typeface="Arial"/>
                <a:ea typeface="Arial"/>
                <a:cs typeface="Arial"/>
              </a:defRPr>
            </a:pPr>
            <a:r>
              <a:rPr sz="3225" b="1">
                <a:solidFill>
                  <a:srgbClr val="2D668A"/>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DDBB4E9E-5DFF-49BC-B632-305087C828D1}"/>
              </a:ext>
            </a:extLst>
          </p:cNvPr>
          <p:cNvSpPr>
            <a:spLocks xmlns:a="http://schemas.openxmlformats.org/drawingml/2006/main" noGrp="1"/>
          </p:cNvSpPr>
          <p:nvPr/>
        </p:nvSpPr>
        <p:spPr>
          <a:xfrm xmlns:a="http://schemas.openxmlformats.org/drawingml/2006/main">
            <a:off x="4333875" y="26289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imports successifs sur MongoDB</a:t>
            </a:r>
          </a:p>
        </p:txBody>
      </p:sp>
      <p:sp>
        <p:nvSpPr>
          <p:cNvPr id="13" name="">
            <a:extLst xmlns:a="http://schemas.openxmlformats.org/drawingml/2006/main">
              <a:ext uri="{FF2B5EF4-FFF2-40B4-BE49-F238E27FC236}">
                <a16:creationId xmlns:a16="http://schemas.microsoft.com/office/drawing/2014/main" id="{9B463481-A086-4F61-882B-6A02B381268D}"/>
              </a:ext>
            </a:extLst>
          </p:cNvPr>
          <p:cNvSpPr>
            <a:spLocks xmlns:a="http://schemas.openxmlformats.org/drawingml/2006/main" noGrp="1"/>
          </p:cNvSpPr>
          <p:nvPr/>
        </p:nvSpPr>
        <p:spPr>
          <a:xfrm xmlns:a="http://schemas.openxmlformats.org/drawingml/2006/main">
            <a:off x="8001000" y="1743075"/>
            <a:ext cx="2857500" cy="19050"/>
          </a:xfrm>
          <a:prstGeom xmlns:a="http://schemas.openxmlformats.org/drawingml/2006/main" prst="rect">
            <a:avLst/>
          </a:prstGeom>
          <a:solidFill xmlns:a="http://schemas.openxmlformats.org/drawingml/2006/main">
            <a:srgbClr val="102A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0A97E0-CC2A-48D0-9D60-CAA2F5467434}"/>
              </a:ext>
            </a:extLst>
          </p:cNvPr>
          <p:cNvSpPr>
            <a:spLocks xmlns:a="http://schemas.openxmlformats.org/drawingml/2006/main" noGrp="1"/>
          </p:cNvSpPr>
          <p:nvPr/>
        </p:nvSpPr>
        <p:spPr>
          <a:xfrm xmlns:a="http://schemas.openxmlformats.org/drawingml/2006/main">
            <a:off x="8001000" y="1962150"/>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A35"/>
                </a:solidFill>
                <a:latin typeface="Arial"/>
                <a:ea typeface="Arial"/>
                <a:cs typeface="Arial"/>
              </a:defRPr>
            </a:pPr>
            <a:r>
              <a:rPr sz="3225" b="1">
                <a:solidFill>
                  <a:srgbClr val="102A35"/>
                </a:solidFill>
                <a:latin typeface="Arial"/>
                <a:ea typeface="Arial"/>
                <a:cs typeface="Arial"/>
              </a:rPr>
              <a:t>55 500</a:t>
            </a:r>
          </a:p>
        </p:txBody>
      </p:sp>
      <p:sp>
        <p:nvSpPr>
          <p:cNvPr id="15" name="">
            <a:extLst xmlns:a="http://schemas.openxmlformats.org/drawingml/2006/main">
              <a:ext uri="{FF2B5EF4-FFF2-40B4-BE49-F238E27FC236}">
                <a16:creationId xmlns:a16="http://schemas.microsoft.com/office/drawing/2014/main" id="{B824BAE0-E807-47AB-8D9B-647B83B739BF}"/>
              </a:ext>
            </a:extLst>
          </p:cNvPr>
          <p:cNvSpPr>
            <a:spLocks xmlns:a="http://schemas.openxmlformats.org/drawingml/2006/main" noGrp="1"/>
          </p:cNvSpPr>
          <p:nvPr/>
        </p:nvSpPr>
        <p:spPr>
          <a:xfrm xmlns:a="http://schemas.openxmlformats.org/drawingml/2006/main">
            <a:off x="8001000" y="26289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documents vérifiés à chaque fois</a:t>
            </a:r>
          </a:p>
        </p:txBody>
      </p:sp>
      <p:sp>
        <p:nvSpPr>
          <p:cNvPr id="16" name="">
            <a:extLst xmlns:a="http://schemas.openxmlformats.org/drawingml/2006/main">
              <a:ext uri="{FF2B5EF4-FFF2-40B4-BE49-F238E27FC236}">
                <a16:creationId xmlns:a16="http://schemas.microsoft.com/office/drawing/2014/main" id="{FA47EB86-EBF9-4D6B-8F28-84D82BF5F965}"/>
              </a:ext>
            </a:extLst>
          </p:cNvPr>
          <p:cNvSpPr>
            <a:spLocks xmlns:a="http://schemas.openxmlformats.org/drawingml/2006/main" noGrp="1"/>
          </p:cNvSpPr>
          <p:nvPr/>
        </p:nvSpPr>
        <p:spPr>
          <a:xfrm xmlns:a="http://schemas.openxmlformats.org/drawingml/2006/main">
            <a:off x="666750" y="4048125"/>
            <a:ext cx="10858500" cy="1276350"/>
          </a:xfrm>
          <a:prstGeom xmlns:a="http://schemas.openxmlformats.org/drawingml/2006/main" prst="rect">
            <a:avLst/>
          </a:prstGeom>
          <a:solidFill xmlns:a="http://schemas.openxmlformats.org/drawingml/2006/main">
            <a:srgbClr val="FFF3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600496F-2A0B-419E-BE70-FAA631E5A482}"/>
              </a:ext>
            </a:extLst>
          </p:cNvPr>
          <p:cNvSpPr>
            <a:spLocks xmlns:a="http://schemas.openxmlformats.org/drawingml/2006/main" noGrp="1"/>
          </p:cNvSpPr>
          <p:nvPr/>
        </p:nvSpPr>
        <p:spPr>
          <a:xfrm xmlns:a="http://schemas.openxmlformats.org/drawingml/2006/main">
            <a:off x="914400" y="42291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02A35"/>
                </a:solidFill>
                <a:latin typeface="Arial"/>
                <a:ea typeface="Arial"/>
                <a:cs typeface="Arial"/>
              </a:defRPr>
            </a:pPr>
            <a:r>
              <a:rPr sz="1875" b="1">
                <a:solidFill>
                  <a:srgbClr val="102A35"/>
                </a:solidFill>
                <a:latin typeface="Arial"/>
                <a:ea typeface="Arial"/>
                <a:cs typeface="Arial"/>
              </a:rPr>
              <a:t>Contrôles réels du 20 septembre 2026</a:t>
            </a:r>
          </a:p>
        </p:txBody>
      </p:sp>
      <p:sp>
        <p:nvSpPr>
          <p:cNvPr id="18" name="">
            <a:extLst xmlns:a="http://schemas.openxmlformats.org/drawingml/2006/main">
              <a:ext uri="{FF2B5EF4-FFF2-40B4-BE49-F238E27FC236}">
                <a16:creationId xmlns:a16="http://schemas.microsoft.com/office/drawing/2014/main" id="{BEAB481B-1FDD-451E-B892-72047888FD90}"/>
              </a:ext>
            </a:extLst>
          </p:cNvPr>
          <p:cNvSpPr>
            <a:spLocks xmlns:a="http://schemas.openxmlformats.org/drawingml/2006/main" noGrp="1"/>
          </p:cNvSpPr>
          <p:nvPr/>
        </p:nvSpPr>
        <p:spPr>
          <a:xfrm xmlns:a="http://schemas.openxmlformats.org/drawingml/2006/main">
            <a:off x="914400" y="47434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Écriture lecteur et lecture anonyme refusées ; export conforme ; 55 500 documents restaurés dans une base de test.</a:t>
            </a:r>
          </a:p>
        </p:txBody>
      </p:sp>
    </p:spTree>
    <p:extLst>
      <p:ext uri="{BB962C8B-B14F-4D97-AF65-F5344CB8AC3E}">
        <p14:creationId xmlns:p14="http://schemas.microsoft.com/office/powerpoint/2010/main" val="19073721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1BA79F-33E0-4F56-986B-0DB1FF39BF2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7D9471-EB54-431F-9E8D-47D613E1271C}"/>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EXPLOITATION</a:t>
            </a:r>
          </a:p>
        </p:txBody>
      </p:sp>
      <p:sp>
        <p:nvSpPr>
          <p:cNvPr id="3" name="">
            <a:extLst xmlns:a="http://schemas.openxmlformats.org/drawingml/2006/main">
              <a:ext uri="{FF2B5EF4-FFF2-40B4-BE49-F238E27FC236}">
                <a16:creationId xmlns:a16="http://schemas.microsoft.com/office/drawing/2014/main" id="{9100107E-D17E-4954-AE54-AC542449CC58}"/>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Copies, reprise et opérations courantes</a:t>
            </a:r>
          </a:p>
        </p:txBody>
      </p:sp>
      <p:sp>
        <p:nvSpPr>
          <p:cNvPr id="4" name="">
            <a:extLst xmlns:a="http://schemas.openxmlformats.org/drawingml/2006/main">
              <a:ext uri="{FF2B5EF4-FFF2-40B4-BE49-F238E27FC236}">
                <a16:creationId xmlns:a16="http://schemas.microsoft.com/office/drawing/2014/main" id="{98B510EF-F46A-4FA7-B830-DAE45EA8CCB0}"/>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0FAF4E-523A-400C-8F54-6560FE4948CB}"/>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6EB27107-0F60-4D4F-B9F8-535DCFF128C8}"/>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36B29550-C452-4888-B727-10C48F56F74F}"/>
              </a:ext>
            </a:extLst>
          </p:cNvPr>
          <p:cNvSpPr>
            <a:spLocks xmlns:a="http://schemas.openxmlformats.org/drawingml/2006/main" noGrp="1"/>
          </p:cNvSpPr>
          <p:nvPr/>
        </p:nvSpPr>
        <p:spPr>
          <a:xfrm xmlns:a="http://schemas.openxmlformats.org/drawingml/2006/main">
            <a:off x="666750" y="1666875"/>
            <a:ext cx="66675" cy="10668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B903F1-A583-44DE-9C64-ECE01302B524}"/>
              </a:ext>
            </a:extLst>
          </p:cNvPr>
          <p:cNvSpPr>
            <a:spLocks xmlns:a="http://schemas.openxmlformats.org/drawingml/2006/main" noGrp="1"/>
          </p:cNvSpPr>
          <p:nvPr/>
        </p:nvSpPr>
        <p:spPr>
          <a:xfrm xmlns:a="http://schemas.openxmlformats.org/drawingml/2006/main">
            <a:off x="942975" y="1704975"/>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Sauvegarde</a:t>
            </a:r>
          </a:p>
        </p:txBody>
      </p:sp>
      <p:sp>
        <p:nvSpPr>
          <p:cNvPr id="9" name="">
            <a:extLst xmlns:a="http://schemas.openxmlformats.org/drawingml/2006/main">
              <a:ext uri="{FF2B5EF4-FFF2-40B4-BE49-F238E27FC236}">
                <a16:creationId xmlns:a16="http://schemas.microsoft.com/office/drawing/2014/main" id="{E3B832AC-B551-4AA3-B477-9153829B762E}"/>
              </a:ext>
            </a:extLst>
          </p:cNvPr>
          <p:cNvSpPr>
            <a:spLocks xmlns:a="http://schemas.openxmlformats.org/drawingml/2006/main" noGrp="1"/>
          </p:cNvSpPr>
          <p:nvPr/>
        </p:nvSpPr>
        <p:spPr>
          <a:xfrm xmlns:a="http://schemas.openxmlformats.org/drawingml/2006/main">
            <a:off x="3619500" y="1704975"/>
            <a:ext cx="7762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55 500 documents restaurés dans une base séparée du même serveur ; archive altérée refusée.</a:t>
            </a:r>
          </a:p>
        </p:txBody>
      </p:sp>
      <p:sp>
        <p:nvSpPr>
          <p:cNvPr id="10" name="">
            <a:extLst xmlns:a="http://schemas.openxmlformats.org/drawingml/2006/main">
              <a:ext uri="{FF2B5EF4-FFF2-40B4-BE49-F238E27FC236}">
                <a16:creationId xmlns:a16="http://schemas.microsoft.com/office/drawing/2014/main" id="{F546C67F-E124-4696-AAEF-43FDBFAC3927}"/>
              </a:ext>
            </a:extLst>
          </p:cNvPr>
          <p:cNvSpPr>
            <a:spLocks xmlns:a="http://schemas.openxmlformats.org/drawingml/2006/main" noGrp="1"/>
          </p:cNvSpPr>
          <p:nvPr/>
        </p:nvSpPr>
        <p:spPr>
          <a:xfrm xmlns:a="http://schemas.openxmlformats.org/drawingml/2006/main">
            <a:off x="942975" y="272415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B87CC1-BD89-41FE-9A62-1E0B84308571}"/>
              </a:ext>
            </a:extLst>
          </p:cNvPr>
          <p:cNvSpPr>
            <a:spLocks xmlns:a="http://schemas.openxmlformats.org/drawingml/2006/main" noGrp="1"/>
          </p:cNvSpPr>
          <p:nvPr/>
        </p:nvSpPr>
        <p:spPr>
          <a:xfrm xmlns:a="http://schemas.openxmlformats.org/drawingml/2006/main">
            <a:off x="666750" y="2828925"/>
            <a:ext cx="66675" cy="1066800"/>
          </a:xfrm>
          <a:prstGeom xmlns:a="http://schemas.openxmlformats.org/drawingml/2006/main" prst="rect">
            <a:avLst/>
          </a:prstGeom>
          <a:solidFill xmlns:a="http://schemas.openxmlformats.org/drawingml/2006/main">
            <a:srgbClr val="2D668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E4ECA2-F60B-47FA-B773-396AEF12DB5E}"/>
              </a:ext>
            </a:extLst>
          </p:cNvPr>
          <p:cNvSpPr>
            <a:spLocks xmlns:a="http://schemas.openxmlformats.org/drawingml/2006/main" noGrp="1"/>
          </p:cNvSpPr>
          <p:nvPr/>
        </p:nvSpPr>
        <p:spPr>
          <a:xfrm xmlns:a="http://schemas.openxmlformats.org/drawingml/2006/main">
            <a:off x="942975" y="2867025"/>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Export intégral</a:t>
            </a:r>
          </a:p>
        </p:txBody>
      </p:sp>
      <p:sp>
        <p:nvSpPr>
          <p:cNvPr id="13" name="">
            <a:extLst xmlns:a="http://schemas.openxmlformats.org/drawingml/2006/main">
              <a:ext uri="{FF2B5EF4-FFF2-40B4-BE49-F238E27FC236}">
                <a16:creationId xmlns:a16="http://schemas.microsoft.com/office/drawing/2014/main" id="{7B4A5659-AAEE-4FDA-A75D-C8770353308C}"/>
              </a:ext>
            </a:extLst>
          </p:cNvPr>
          <p:cNvSpPr>
            <a:spLocks xmlns:a="http://schemas.openxmlformats.org/drawingml/2006/main" noGrp="1"/>
          </p:cNvSpPr>
          <p:nvPr/>
        </p:nvSpPr>
        <p:spPr>
          <a:xfrm xmlns:a="http://schemas.openxmlformats.org/drawingml/2006/main">
            <a:off x="3619500" y="2867025"/>
            <a:ext cx="7762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55 500 lignes comparées ; CSV en clair, local, exclu du dépôt.</a:t>
            </a:r>
          </a:p>
        </p:txBody>
      </p:sp>
      <p:sp>
        <p:nvSpPr>
          <p:cNvPr id="14" name="">
            <a:extLst xmlns:a="http://schemas.openxmlformats.org/drawingml/2006/main">
              <a:ext uri="{FF2B5EF4-FFF2-40B4-BE49-F238E27FC236}">
                <a16:creationId xmlns:a16="http://schemas.microsoft.com/office/drawing/2014/main" id="{280189E0-42F1-4B0B-887D-02F554C7BCA3}"/>
              </a:ext>
            </a:extLst>
          </p:cNvPr>
          <p:cNvSpPr>
            <a:spLocks xmlns:a="http://schemas.openxmlformats.org/drawingml/2006/main" noGrp="1"/>
          </p:cNvSpPr>
          <p:nvPr/>
        </p:nvSpPr>
        <p:spPr>
          <a:xfrm xmlns:a="http://schemas.openxmlformats.org/drawingml/2006/main">
            <a:off x="942975" y="388620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AD7CAA-F73C-458A-926D-ECBC2F364AB8}"/>
              </a:ext>
            </a:extLst>
          </p:cNvPr>
          <p:cNvSpPr>
            <a:spLocks xmlns:a="http://schemas.openxmlformats.org/drawingml/2006/main" noGrp="1"/>
          </p:cNvSpPr>
          <p:nvPr/>
        </p:nvSpPr>
        <p:spPr>
          <a:xfrm xmlns:a="http://schemas.openxmlformats.org/drawingml/2006/main">
            <a:off x="666750" y="3990975"/>
            <a:ext cx="66675" cy="1066800"/>
          </a:xfrm>
          <a:prstGeom xmlns:a="http://schemas.openxmlformats.org/drawingml/2006/main" prst="rect">
            <a:avLst/>
          </a:prstGeom>
          <a:solidFill xmlns:a="http://schemas.openxmlformats.org/drawingml/2006/main">
            <a:srgbClr val="D18B2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C927149-C796-4A1C-8345-C558C4051720}"/>
              </a:ext>
            </a:extLst>
          </p:cNvPr>
          <p:cNvSpPr>
            <a:spLocks xmlns:a="http://schemas.openxmlformats.org/drawingml/2006/main" noGrp="1"/>
          </p:cNvSpPr>
          <p:nvPr/>
        </p:nvSpPr>
        <p:spPr>
          <a:xfrm xmlns:a="http://schemas.openxmlformats.org/drawingml/2006/main">
            <a:off x="942975" y="4029075"/>
            <a:ext cx="2524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02A35"/>
                </a:solidFill>
                <a:latin typeface="Arial"/>
                <a:ea typeface="Arial"/>
                <a:cs typeface="Arial"/>
              </a:defRPr>
            </a:pPr>
            <a:r>
              <a:rPr sz="1725" b="1">
                <a:solidFill>
                  <a:srgbClr val="102A35"/>
                </a:solidFill>
                <a:latin typeface="Arial"/>
                <a:ea typeface="Arial"/>
                <a:cs typeface="Arial"/>
              </a:rPr>
              <a:t>CRUD fictif</a:t>
            </a:r>
          </a:p>
        </p:txBody>
      </p:sp>
      <p:sp>
        <p:nvSpPr>
          <p:cNvPr id="17" name="">
            <a:extLst xmlns:a="http://schemas.openxmlformats.org/drawingml/2006/main">
              <a:ext uri="{FF2B5EF4-FFF2-40B4-BE49-F238E27FC236}">
                <a16:creationId xmlns:a16="http://schemas.microsoft.com/office/drawing/2014/main" id="{3E670D12-7DC6-44D7-9DBE-547E001CA646}"/>
              </a:ext>
            </a:extLst>
          </p:cNvPr>
          <p:cNvSpPr>
            <a:spLocks xmlns:a="http://schemas.openxmlformats.org/drawingml/2006/main" noGrp="1"/>
          </p:cNvSpPr>
          <p:nvPr/>
        </p:nvSpPr>
        <p:spPr>
          <a:xfrm xmlns:a="http://schemas.openxmlformats.org/drawingml/2006/main">
            <a:off x="3619500" y="4029075"/>
            <a:ext cx="7762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Créer, lire, modifier, supprimer hors de la collection des admissions.</a:t>
            </a:r>
          </a:p>
        </p:txBody>
      </p:sp>
      <p:sp>
        <p:nvSpPr>
          <p:cNvPr id="18" name="">
            <a:extLst xmlns:a="http://schemas.openxmlformats.org/drawingml/2006/main">
              <a:ext uri="{FF2B5EF4-FFF2-40B4-BE49-F238E27FC236}">
                <a16:creationId xmlns:a16="http://schemas.microsoft.com/office/drawing/2014/main" id="{A1EA1A76-49D8-4052-942B-91DC5C193FFD}"/>
              </a:ext>
            </a:extLst>
          </p:cNvPr>
          <p:cNvSpPr>
            <a:spLocks xmlns:a="http://schemas.openxmlformats.org/drawingml/2006/main" noGrp="1"/>
          </p:cNvSpPr>
          <p:nvPr/>
        </p:nvSpPr>
        <p:spPr>
          <a:xfrm xmlns:a="http://schemas.openxmlformats.org/drawingml/2006/main">
            <a:off x="942975" y="5048250"/>
            <a:ext cx="104394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6894AE-831D-42FA-AD1A-4DAD9DC16F94}"/>
              </a:ext>
            </a:extLst>
          </p:cNvPr>
          <p:cNvSpPr>
            <a:spLocks xmlns:a="http://schemas.openxmlformats.org/drawingml/2006/main" noGrp="1"/>
          </p:cNvSpPr>
          <p:nvPr/>
        </p:nvSpPr>
        <p:spPr>
          <a:xfrm xmlns:a="http://schemas.openxmlformats.org/drawingml/2006/main">
            <a:off x="666750" y="54006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B33B42"/>
                </a:solidFill>
                <a:latin typeface="Arial"/>
                <a:ea typeface="Arial"/>
                <a:cs typeface="Arial"/>
              </a:defRPr>
            </a:pPr>
            <a:r>
              <a:rPr sz="1725" b="1">
                <a:solidFill>
                  <a:srgbClr val="B33B42"/>
                </a:solidFill>
                <a:latin typeface="Arial"/>
                <a:ea typeface="Arial"/>
                <a:cs typeface="Arial"/>
              </a:rPr>
              <a:t>Un volume persistant n’est pas une sauvegarde hors poste.</a:t>
            </a:r>
          </a:p>
        </p:txBody>
      </p:sp>
    </p:spTree>
    <p:extLst>
      <p:ext uri="{BB962C8B-B14F-4D97-AF65-F5344CB8AC3E}">
        <p14:creationId xmlns:p14="http://schemas.microsoft.com/office/powerpoint/2010/main" val="443870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7F77CB6-4A5F-4D98-AA5C-DA1827D65BF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96AFBA-CE32-48A6-8363-CA6293EF28D1}"/>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RECHERCHE CLOUD</a:t>
            </a:r>
          </a:p>
        </p:txBody>
      </p:sp>
      <p:sp>
        <p:nvSpPr>
          <p:cNvPr id="3" name="">
            <a:extLst xmlns:a="http://schemas.openxmlformats.org/drawingml/2006/main">
              <a:ext uri="{FF2B5EF4-FFF2-40B4-BE49-F238E27FC236}">
                <a16:creationId xmlns:a16="http://schemas.microsoft.com/office/drawing/2014/main" id="{2D10A43A-C0E1-4923-9153-8A605BF1EA8D}"/>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AWS : étude, pas déploiement</a:t>
            </a:r>
          </a:p>
        </p:txBody>
      </p:sp>
      <p:sp>
        <p:nvSpPr>
          <p:cNvPr id="4" name="">
            <a:extLst xmlns:a="http://schemas.openxmlformats.org/drawingml/2006/main">
              <a:ext uri="{FF2B5EF4-FFF2-40B4-BE49-F238E27FC236}">
                <a16:creationId xmlns:a16="http://schemas.microsoft.com/office/drawing/2014/main" id="{22D76CA6-A3B8-4B88-9663-8F95DD94BB95}"/>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9B61A7-9AB7-4099-AC4D-20674451CC54}"/>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0FC74973-B2D8-4083-BEB7-6E97DE540FA3}"/>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403327DC-DC1A-4F3C-A3D9-AF433950457F}"/>
              </a:ext>
            </a:extLst>
          </p:cNvPr>
          <p:cNvSpPr>
            <a:spLocks xmlns:a="http://schemas.openxmlformats.org/drawingml/2006/main" noGrp="1"/>
          </p:cNvSpPr>
          <p:nvPr/>
        </p:nvSpPr>
        <p:spPr>
          <a:xfrm xmlns:a="http://schemas.openxmlformats.org/drawingml/2006/main">
            <a:off x="666750" y="1695450"/>
            <a:ext cx="3143250" cy="1905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DEF7ED-DFB7-4389-A8D4-E195A194A530}"/>
              </a:ext>
            </a:extLst>
          </p:cNvPr>
          <p:cNvSpPr>
            <a:spLocks xmlns:a="http://schemas.openxmlformats.org/drawingml/2006/main" noGrp="1"/>
          </p:cNvSpPr>
          <p:nvPr/>
        </p:nvSpPr>
        <p:spPr>
          <a:xfrm xmlns:a="http://schemas.openxmlformats.org/drawingml/2006/main">
            <a:off x="666750" y="191452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A8176"/>
                </a:solidFill>
                <a:latin typeface="Arial"/>
                <a:ea typeface="Arial"/>
                <a:cs typeface="Arial"/>
              </a:defRPr>
            </a:pPr>
            <a:r>
              <a:rPr sz="3225" b="1">
                <a:solidFill>
                  <a:srgbClr val="0A8176"/>
                </a:solidFill>
                <a:latin typeface="Arial"/>
                <a:ea typeface="Arial"/>
                <a:cs typeface="Arial"/>
              </a:rPr>
              <a:t>S3</a:t>
            </a:r>
          </a:p>
        </p:txBody>
      </p:sp>
      <p:sp>
        <p:nvSpPr>
          <p:cNvPr id="9" name="">
            <a:extLst xmlns:a="http://schemas.openxmlformats.org/drawingml/2006/main">
              <a:ext uri="{FF2B5EF4-FFF2-40B4-BE49-F238E27FC236}">
                <a16:creationId xmlns:a16="http://schemas.microsoft.com/office/drawing/2014/main" id="{E046DB73-FB04-4722-804E-8F23A4EA2152}"/>
              </a:ext>
            </a:extLst>
          </p:cNvPr>
          <p:cNvSpPr>
            <a:spLocks xmlns:a="http://schemas.openxmlformats.org/drawingml/2006/main" noGrp="1"/>
          </p:cNvSpPr>
          <p:nvPr/>
        </p:nvSpPr>
        <p:spPr>
          <a:xfrm xmlns:a="http://schemas.openxmlformats.org/drawingml/2006/main">
            <a:off x="666750" y="2581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objets : CSV et archives</a:t>
            </a:r>
          </a:p>
        </p:txBody>
      </p:sp>
      <p:sp>
        <p:nvSpPr>
          <p:cNvPr id="10" name="">
            <a:extLst xmlns:a="http://schemas.openxmlformats.org/drawingml/2006/main">
              <a:ext uri="{FF2B5EF4-FFF2-40B4-BE49-F238E27FC236}">
                <a16:creationId xmlns:a16="http://schemas.microsoft.com/office/drawing/2014/main" id="{4CC1D553-B071-4E76-A12C-3077D38DA903}"/>
              </a:ext>
            </a:extLst>
          </p:cNvPr>
          <p:cNvSpPr>
            <a:spLocks xmlns:a="http://schemas.openxmlformats.org/drawingml/2006/main" noGrp="1"/>
          </p:cNvSpPr>
          <p:nvPr/>
        </p:nvSpPr>
        <p:spPr>
          <a:xfrm xmlns:a="http://schemas.openxmlformats.org/drawingml/2006/main">
            <a:off x="4429125" y="1695450"/>
            <a:ext cx="3143250" cy="19050"/>
          </a:xfrm>
          <a:prstGeom xmlns:a="http://schemas.openxmlformats.org/drawingml/2006/main" prst="rect">
            <a:avLst/>
          </a:prstGeom>
          <a:solidFill xmlns:a="http://schemas.openxmlformats.org/drawingml/2006/main">
            <a:srgbClr val="2D66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A6B035-683C-4DB1-825D-6A94CEBB0BB9}"/>
              </a:ext>
            </a:extLst>
          </p:cNvPr>
          <p:cNvSpPr>
            <a:spLocks xmlns:a="http://schemas.openxmlformats.org/drawingml/2006/main" noGrp="1"/>
          </p:cNvSpPr>
          <p:nvPr/>
        </p:nvSpPr>
        <p:spPr>
          <a:xfrm xmlns:a="http://schemas.openxmlformats.org/drawingml/2006/main">
            <a:off x="4429125" y="191452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2D668A"/>
                </a:solidFill>
                <a:latin typeface="Arial"/>
                <a:ea typeface="Arial"/>
                <a:cs typeface="Arial"/>
              </a:defRPr>
            </a:pPr>
            <a:r>
              <a:rPr sz="3225" b="1">
                <a:solidFill>
                  <a:srgbClr val="2D668A"/>
                </a:solidFill>
                <a:latin typeface="Arial"/>
                <a:ea typeface="Arial"/>
                <a:cs typeface="Arial"/>
              </a:rPr>
              <a:t>DocumentDB</a:t>
            </a:r>
          </a:p>
        </p:txBody>
      </p:sp>
      <p:sp>
        <p:nvSpPr>
          <p:cNvPr id="12" name="">
            <a:extLst xmlns:a="http://schemas.openxmlformats.org/drawingml/2006/main">
              <a:ext uri="{FF2B5EF4-FFF2-40B4-BE49-F238E27FC236}">
                <a16:creationId xmlns:a16="http://schemas.microsoft.com/office/drawing/2014/main" id="{DC98F214-FF6E-4ACB-8BB3-BD737317303C}"/>
              </a:ext>
            </a:extLst>
          </p:cNvPr>
          <p:cNvSpPr>
            <a:spLocks xmlns:a="http://schemas.openxmlformats.org/drawingml/2006/main" noGrp="1"/>
          </p:cNvSpPr>
          <p:nvPr/>
        </p:nvSpPr>
        <p:spPr>
          <a:xfrm xmlns:a="http://schemas.openxmlformats.org/drawingml/2006/main">
            <a:off x="4429125" y="2581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base documentaire compatible</a:t>
            </a:r>
          </a:p>
        </p:txBody>
      </p:sp>
      <p:sp>
        <p:nvSpPr>
          <p:cNvPr id="13" name="">
            <a:extLst xmlns:a="http://schemas.openxmlformats.org/drawingml/2006/main">
              <a:ext uri="{FF2B5EF4-FFF2-40B4-BE49-F238E27FC236}">
                <a16:creationId xmlns:a16="http://schemas.microsoft.com/office/drawing/2014/main" id="{CED41DB2-3683-47D9-9E2C-9767541A48ED}"/>
              </a:ext>
            </a:extLst>
          </p:cNvPr>
          <p:cNvSpPr>
            <a:spLocks xmlns:a="http://schemas.openxmlformats.org/drawingml/2006/main" noGrp="1"/>
          </p:cNvSpPr>
          <p:nvPr/>
        </p:nvSpPr>
        <p:spPr>
          <a:xfrm xmlns:a="http://schemas.openxmlformats.org/drawingml/2006/main">
            <a:off x="8191500" y="1695450"/>
            <a:ext cx="3143250" cy="19050"/>
          </a:xfrm>
          <a:prstGeom xmlns:a="http://schemas.openxmlformats.org/drawingml/2006/main" prst="rect">
            <a:avLst/>
          </a:prstGeom>
          <a:solidFill xmlns:a="http://schemas.openxmlformats.org/drawingml/2006/main">
            <a:srgbClr val="102A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A020A9-B859-4482-8651-BCC240240C58}"/>
              </a:ext>
            </a:extLst>
          </p:cNvPr>
          <p:cNvSpPr>
            <a:spLocks xmlns:a="http://schemas.openxmlformats.org/drawingml/2006/main" noGrp="1"/>
          </p:cNvSpPr>
          <p:nvPr/>
        </p:nvSpPr>
        <p:spPr>
          <a:xfrm xmlns:a="http://schemas.openxmlformats.org/drawingml/2006/main">
            <a:off x="8191500" y="191452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A35"/>
                </a:solidFill>
                <a:latin typeface="Arial"/>
                <a:ea typeface="Arial"/>
                <a:cs typeface="Arial"/>
              </a:defRPr>
            </a:pPr>
            <a:r>
              <a:rPr sz="3225" b="1">
                <a:solidFill>
                  <a:srgbClr val="102A35"/>
                </a:solidFill>
                <a:latin typeface="Arial"/>
                <a:ea typeface="Arial"/>
                <a:cs typeface="Arial"/>
              </a:rPr>
              <a:t>ECS</a:t>
            </a:r>
          </a:p>
        </p:txBody>
      </p:sp>
      <p:sp>
        <p:nvSpPr>
          <p:cNvPr id="15" name="">
            <a:extLst xmlns:a="http://schemas.openxmlformats.org/drawingml/2006/main">
              <a:ext uri="{FF2B5EF4-FFF2-40B4-BE49-F238E27FC236}">
                <a16:creationId xmlns:a16="http://schemas.microsoft.com/office/drawing/2014/main" id="{1FC57B29-7DB8-4CBD-8B74-F89599E42A2C}"/>
              </a:ext>
            </a:extLst>
          </p:cNvPr>
          <p:cNvSpPr>
            <a:spLocks xmlns:a="http://schemas.openxmlformats.org/drawingml/2006/main" noGrp="1"/>
          </p:cNvSpPr>
          <p:nvPr/>
        </p:nvSpPr>
        <p:spPr>
          <a:xfrm xmlns:a="http://schemas.openxmlformats.org/drawingml/2006/main">
            <a:off x="8191500" y="2581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82B37"/>
                </a:solidFill>
                <a:latin typeface="Arial"/>
                <a:ea typeface="Arial"/>
                <a:cs typeface="Arial"/>
              </a:defRPr>
            </a:pPr>
            <a:r>
              <a:rPr sz="1425" b="0">
                <a:solidFill>
                  <a:srgbClr val="182B37"/>
                </a:solidFill>
                <a:latin typeface="Arial"/>
                <a:ea typeface="Arial"/>
                <a:cs typeface="Arial"/>
              </a:rPr>
              <a:t>tâches conteneurisées</a:t>
            </a:r>
          </a:p>
        </p:txBody>
      </p:sp>
      <p:sp>
        <p:nvSpPr>
          <p:cNvPr id="16" name="">
            <a:extLst xmlns:a="http://schemas.openxmlformats.org/drawingml/2006/main">
              <a:ext uri="{FF2B5EF4-FFF2-40B4-BE49-F238E27FC236}">
                <a16:creationId xmlns:a16="http://schemas.microsoft.com/office/drawing/2014/main" id="{0583A9BA-D639-4FF5-B74E-9105DCBCCF65}"/>
              </a:ext>
            </a:extLst>
          </p:cNvPr>
          <p:cNvSpPr>
            <a:spLocks xmlns:a="http://schemas.openxmlformats.org/drawingml/2006/main" noGrp="1"/>
          </p:cNvSpPr>
          <p:nvPr/>
        </p:nvSpPr>
        <p:spPr>
          <a:xfrm xmlns:a="http://schemas.openxmlformats.org/drawingml/2006/main">
            <a:off x="666750" y="4000500"/>
            <a:ext cx="10858500" cy="1238250"/>
          </a:xfrm>
          <a:prstGeom xmlns:a="http://schemas.openxmlformats.org/drawingml/2006/main" prst="rect">
            <a:avLst/>
          </a:prstGeom>
          <a:solidFill xmlns:a="http://schemas.openxmlformats.org/drawingml/2006/main">
            <a:srgbClr val="FFF3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FED000E-1AAC-4314-BB89-D05411E6CA0B}"/>
              </a:ext>
            </a:extLst>
          </p:cNvPr>
          <p:cNvSpPr>
            <a:spLocks xmlns:a="http://schemas.openxmlformats.org/drawingml/2006/main" noGrp="1"/>
          </p:cNvSpPr>
          <p:nvPr/>
        </p:nvSpPr>
        <p:spPr>
          <a:xfrm xmlns:a="http://schemas.openxmlformats.org/drawingml/2006/main">
            <a:off x="914400" y="42005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02A35"/>
                </a:solidFill>
                <a:latin typeface="Arial"/>
                <a:ea typeface="Arial"/>
                <a:cs typeface="Arial"/>
              </a:defRPr>
            </a:pPr>
            <a:r>
              <a:rPr sz="1875" b="1">
                <a:solidFill>
                  <a:srgbClr val="102A35"/>
                </a:solidFill>
                <a:latin typeface="Arial"/>
                <a:ea typeface="Arial"/>
                <a:cs typeface="Arial"/>
              </a:rPr>
              <a:t>RDS pour MongoDB : expression inexacte</a:t>
            </a:r>
          </a:p>
        </p:txBody>
      </p:sp>
      <p:sp>
        <p:nvSpPr>
          <p:cNvPr id="18" name="">
            <a:extLst xmlns:a="http://schemas.openxmlformats.org/drawingml/2006/main">
              <a:ext uri="{FF2B5EF4-FFF2-40B4-BE49-F238E27FC236}">
                <a16:creationId xmlns:a16="http://schemas.microsoft.com/office/drawing/2014/main" id="{03420730-3E58-4879-8D06-8B720498B0A0}"/>
              </a:ext>
            </a:extLst>
          </p:cNvPr>
          <p:cNvSpPr>
            <a:spLocks xmlns:a="http://schemas.openxmlformats.org/drawingml/2006/main" noGrp="1"/>
          </p:cNvSpPr>
          <p:nvPr/>
        </p:nvSpPr>
        <p:spPr>
          <a:xfrm xmlns:a="http://schemas.openxmlformats.org/drawingml/2006/main">
            <a:off x="914400" y="4733925"/>
            <a:ext cx="1028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82B37"/>
                </a:solidFill>
                <a:latin typeface="Arial"/>
                <a:ea typeface="Arial"/>
                <a:cs typeface="Arial"/>
              </a:defRPr>
            </a:pPr>
            <a:r>
              <a:rPr sz="1500" b="0">
                <a:solidFill>
                  <a:srgbClr val="182B37"/>
                </a:solidFill>
                <a:latin typeface="Arial"/>
                <a:ea typeface="Arial"/>
                <a:cs typeface="Arial"/>
              </a:rPr>
              <a:t>RDS ne liste pas MongoDB comme moteur. Aucun service AWS n’a été provisionné.</a:t>
            </a:r>
          </a:p>
        </p:txBody>
      </p:sp>
    </p:spTree>
    <p:extLst>
      <p:ext uri="{BB962C8B-B14F-4D97-AF65-F5344CB8AC3E}">
        <p14:creationId xmlns:p14="http://schemas.microsoft.com/office/powerpoint/2010/main" val="11043695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5C67DAC-6481-4428-9762-B789A5C6DD1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A817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34376D-8018-42CE-9016-1B6D455DE501}"/>
              </a:ext>
            </a:extLst>
          </p:cNvPr>
          <p:cNvSpPr>
            <a:spLocks xmlns:a="http://schemas.openxmlformats.org/drawingml/2006/main" noGrp="1"/>
          </p:cNvSpPr>
          <p:nvPr/>
        </p:nvSpPr>
        <p:spPr>
          <a:xfrm xmlns:a="http://schemas.openxmlformats.org/drawingml/2006/main">
            <a:off x="666750" y="3333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0A8176"/>
                </a:solidFill>
                <a:latin typeface="Arial"/>
                <a:ea typeface="Arial"/>
                <a:cs typeface="Arial"/>
              </a:defRPr>
            </a:pPr>
            <a:r>
              <a:rPr sz="1050" b="1">
                <a:solidFill>
                  <a:srgbClr val="0A8176"/>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8408BDA9-9351-4003-9D26-966D7F32B2BB}"/>
              </a:ext>
            </a:extLst>
          </p:cNvPr>
          <p:cNvSpPr>
            <a:spLocks xmlns:a="http://schemas.openxmlformats.org/drawingml/2006/main" noGrp="1"/>
          </p:cNvSpPr>
          <p:nvPr/>
        </p:nvSpPr>
        <p:spPr>
          <a:xfrm xmlns:a="http://schemas.openxmlformats.org/drawingml/2006/main">
            <a:off x="666750" y="7334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102A35"/>
                </a:solidFill>
                <a:latin typeface="Arial"/>
                <a:ea typeface="Arial"/>
                <a:cs typeface="Arial"/>
              </a:defRPr>
            </a:pPr>
            <a:r>
              <a:rPr sz="2775" b="1">
                <a:solidFill>
                  <a:srgbClr val="102A35"/>
                </a:solidFill>
                <a:latin typeface="Arial"/>
                <a:ea typeface="Arial"/>
                <a:cs typeface="Arial"/>
              </a:rPr>
              <a:t>Démonstration et décision de validation</a:t>
            </a:r>
          </a:p>
        </p:txBody>
      </p:sp>
      <p:sp>
        <p:nvSpPr>
          <p:cNvPr id="4" name="">
            <a:extLst xmlns:a="http://schemas.openxmlformats.org/drawingml/2006/main">
              <a:ext uri="{FF2B5EF4-FFF2-40B4-BE49-F238E27FC236}">
                <a16:creationId xmlns:a16="http://schemas.microsoft.com/office/drawing/2014/main" id="{D9161C67-E8B5-4F2D-AC3E-F81C9F9AC236}"/>
              </a:ext>
            </a:extLst>
          </p:cNvPr>
          <p:cNvSpPr>
            <a:spLocks xmlns:a="http://schemas.openxmlformats.org/drawingml/2006/main" noGrp="1"/>
          </p:cNvSpPr>
          <p:nvPr/>
        </p:nvSpPr>
        <p:spPr>
          <a:xfrm xmlns:a="http://schemas.openxmlformats.org/drawingml/2006/main">
            <a:off x="666750" y="6372225"/>
            <a:ext cx="10858500" cy="9525"/>
          </a:xfrm>
          <a:prstGeom xmlns:a="http://schemas.openxmlformats.org/drawingml/2006/main" prst="rect">
            <a:avLst/>
          </a:prstGeom>
          <a:solidFill xmlns:a="http://schemas.openxmlformats.org/drawingml/2006/main">
            <a:srgbClr val="D7E0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5265F0-EE64-4EE9-9122-6507A96E2F5C}"/>
              </a:ext>
            </a:extLst>
          </p:cNvPr>
          <p:cNvSpPr>
            <a:spLocks xmlns:a="http://schemas.openxmlformats.org/drawingml/2006/main" noGrp="1"/>
          </p:cNvSpPr>
          <p:nvPr/>
        </p:nvSpPr>
        <p:spPr>
          <a:xfrm xmlns:a="http://schemas.openxmlformats.org/drawingml/2006/main">
            <a:off x="666750" y="6467475"/>
            <a:ext cx="809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 b="0">
                <a:solidFill>
                  <a:srgbClr val="55717B"/>
                </a:solidFill>
                <a:latin typeface="Arial"/>
                <a:ea typeface="Arial"/>
                <a:cs typeface="Arial"/>
              </a:defRPr>
            </a:pPr>
            <a:r>
              <a:rPr sz="975" b="0">
                <a:solidFill>
                  <a:srgbClr val="55717B"/>
                </a:solidFill>
                <a:latin typeface="Arial"/>
                <a:ea typeface="Arial"/>
                <a:cs typeface="Arial"/>
              </a:rPr>
              <a:t>P05  |  Projet pédagogique OpenClassrooms</a:t>
            </a:r>
          </a:p>
        </p:txBody>
      </p:sp>
      <p:sp>
        <p:nvSpPr>
          <p:cNvPr id="6" name="">
            <a:extLst xmlns:a="http://schemas.openxmlformats.org/drawingml/2006/main">
              <a:ext uri="{FF2B5EF4-FFF2-40B4-BE49-F238E27FC236}">
                <a16:creationId xmlns:a16="http://schemas.microsoft.com/office/drawing/2014/main" id="{511BFFF5-AFAE-4147-9187-0F1C17A947B0}"/>
              </a:ext>
            </a:extLst>
          </p:cNvPr>
          <p:cNvSpPr>
            <a:spLocks xmlns:a="http://schemas.openxmlformats.org/drawingml/2006/main" noGrp="1"/>
          </p:cNvSpPr>
          <p:nvPr/>
        </p:nvSpPr>
        <p:spPr>
          <a:xfrm xmlns:a="http://schemas.openxmlformats.org/drawingml/2006/main">
            <a:off x="11068050" y="64579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55717B"/>
                </a:solidFill>
                <a:latin typeface="Arial"/>
                <a:ea typeface="Arial"/>
                <a:cs typeface="Arial"/>
              </a:defRPr>
            </a:pPr>
            <a:r>
              <a:rPr sz="1050" b="1">
                <a:solidFill>
                  <a:srgbClr val="55717B"/>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97CDF9ED-5054-4A3F-A208-8C30741EC6BC}"/>
              </a:ext>
            </a:extLst>
          </p:cNvPr>
          <p:cNvSpPr>
            <a:spLocks xmlns:a="http://schemas.openxmlformats.org/drawingml/2006/main" noGrp="1"/>
          </p:cNvSpPr>
          <p:nvPr/>
        </p:nvSpPr>
        <p:spPr>
          <a:xfrm xmlns:a="http://schemas.openxmlformats.org/drawingml/2006/main">
            <a:off x="666750" y="1762125"/>
            <a:ext cx="5095875" cy="866775"/>
          </a:xfrm>
          <a:prstGeom xmlns:a="http://schemas.openxmlformats.org/drawingml/2006/main" prst="rect">
            <a:avLst/>
          </a:prstGeom>
          <a:solidFill xmlns:a="http://schemas.openxmlformats.org/drawingml/2006/main">
            <a:srgbClr val="E5F3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4CC277-4A7D-4763-BDAA-8167FDE52FA0}"/>
              </a:ext>
            </a:extLst>
          </p:cNvPr>
          <p:cNvSpPr>
            <a:spLocks xmlns:a="http://schemas.openxmlformats.org/drawingml/2006/main" noGrp="1"/>
          </p:cNvSpPr>
          <p:nvPr/>
        </p:nvSpPr>
        <p:spPr>
          <a:xfrm xmlns:a="http://schemas.openxmlformats.org/drawingml/2006/main">
            <a:off x="838200" y="1981200"/>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02A35"/>
                </a:solidFill>
                <a:latin typeface="Arial"/>
                <a:ea typeface="Arial"/>
                <a:cs typeface="Arial"/>
              </a:defRPr>
            </a:pPr>
            <a:r>
              <a:rPr sz="1575" b="1">
                <a:solidFill>
                  <a:srgbClr val="102A35"/>
                </a:solidFill>
                <a:latin typeface="Arial"/>
                <a:ea typeface="Arial"/>
                <a:cs typeface="Arial"/>
              </a:rPr>
              <a:t>1. Source et empreinte contrôlées</a:t>
            </a:r>
          </a:p>
        </p:txBody>
      </p:sp>
      <p:sp>
        <p:nvSpPr>
          <p:cNvPr id="9" name="">
            <a:extLst xmlns:a="http://schemas.openxmlformats.org/drawingml/2006/main">
              <a:ext uri="{FF2B5EF4-FFF2-40B4-BE49-F238E27FC236}">
                <a16:creationId xmlns:a16="http://schemas.microsoft.com/office/drawing/2014/main" id="{491CEAE1-1344-428B-8CFF-BABFC16AA52B}"/>
              </a:ext>
            </a:extLst>
          </p:cNvPr>
          <p:cNvSpPr>
            <a:spLocks xmlns:a="http://schemas.openxmlformats.org/drawingml/2006/main" noGrp="1"/>
          </p:cNvSpPr>
          <p:nvPr/>
        </p:nvSpPr>
        <p:spPr>
          <a:xfrm xmlns:a="http://schemas.openxmlformats.org/drawingml/2006/main">
            <a:off x="6143625" y="1762125"/>
            <a:ext cx="5095875" cy="866775"/>
          </a:xfrm>
          <a:prstGeom xmlns:a="http://schemas.openxmlformats.org/drawingml/2006/main" prst="rect">
            <a:avLst/>
          </a:prstGeom>
          <a:solidFill xmlns:a="http://schemas.openxmlformats.org/drawingml/2006/main">
            <a:srgbClr val="E5F3E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7315A9B-FF2C-40AD-B678-89799F5E173C}"/>
              </a:ext>
            </a:extLst>
          </p:cNvPr>
          <p:cNvSpPr>
            <a:spLocks xmlns:a="http://schemas.openxmlformats.org/drawingml/2006/main" noGrp="1"/>
          </p:cNvSpPr>
          <p:nvPr/>
        </p:nvSpPr>
        <p:spPr>
          <a:xfrm xmlns:a="http://schemas.openxmlformats.org/drawingml/2006/main">
            <a:off x="6315075" y="1981200"/>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02A35"/>
                </a:solidFill>
                <a:latin typeface="Arial"/>
                <a:ea typeface="Arial"/>
                <a:cs typeface="Arial"/>
              </a:defRPr>
            </a:pPr>
            <a:r>
              <a:rPr sz="1575" b="1">
                <a:solidFill>
                  <a:srgbClr val="102A35"/>
                </a:solidFill>
                <a:latin typeface="Arial"/>
                <a:ea typeface="Arial"/>
                <a:cs typeface="Arial"/>
              </a:rPr>
              <a:t>2. Docker Desktop : Start puis Logs</a:t>
            </a:r>
          </a:p>
        </p:txBody>
      </p:sp>
      <p:sp>
        <p:nvSpPr>
          <p:cNvPr id="11" name="">
            <a:extLst xmlns:a="http://schemas.openxmlformats.org/drawingml/2006/main">
              <a:ext uri="{FF2B5EF4-FFF2-40B4-BE49-F238E27FC236}">
                <a16:creationId xmlns:a16="http://schemas.microsoft.com/office/drawing/2014/main" id="{0FCAB6DA-0C8E-4299-A75E-ECDC6CACF63F}"/>
              </a:ext>
            </a:extLst>
          </p:cNvPr>
          <p:cNvSpPr>
            <a:spLocks xmlns:a="http://schemas.openxmlformats.org/drawingml/2006/main" noGrp="1"/>
          </p:cNvSpPr>
          <p:nvPr/>
        </p:nvSpPr>
        <p:spPr>
          <a:xfrm xmlns:a="http://schemas.openxmlformats.org/drawingml/2006/main">
            <a:off x="666750" y="2933700"/>
            <a:ext cx="5095875" cy="866775"/>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02D02E-A23A-4857-AFC2-0BB92061FB15}"/>
              </a:ext>
            </a:extLst>
          </p:cNvPr>
          <p:cNvSpPr>
            <a:spLocks xmlns:a="http://schemas.openxmlformats.org/drawingml/2006/main" noGrp="1"/>
          </p:cNvSpPr>
          <p:nvPr/>
        </p:nvSpPr>
        <p:spPr>
          <a:xfrm xmlns:a="http://schemas.openxmlformats.org/drawingml/2006/main">
            <a:off x="838200" y="3152775"/>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02A35"/>
                </a:solidFill>
                <a:latin typeface="Arial"/>
                <a:ea typeface="Arial"/>
                <a:cs typeface="Arial"/>
              </a:defRPr>
            </a:pPr>
            <a:r>
              <a:rPr sz="1575" b="1">
                <a:solidFill>
                  <a:srgbClr val="102A35"/>
                </a:solidFill>
                <a:latin typeface="Arial"/>
                <a:ea typeface="Arial"/>
                <a:cs typeface="Arial"/>
              </a:rPr>
              <a:t>3. Rapport réel : 55 500 vérifiés</a:t>
            </a:r>
          </a:p>
        </p:txBody>
      </p:sp>
      <p:sp>
        <p:nvSpPr>
          <p:cNvPr id="13" name="">
            <a:extLst xmlns:a="http://schemas.openxmlformats.org/drawingml/2006/main">
              <a:ext uri="{FF2B5EF4-FFF2-40B4-BE49-F238E27FC236}">
                <a16:creationId xmlns:a16="http://schemas.microsoft.com/office/drawing/2014/main" id="{F5F50CA7-737B-4174-BCF0-F93149D0EB73}"/>
              </a:ext>
            </a:extLst>
          </p:cNvPr>
          <p:cNvSpPr>
            <a:spLocks xmlns:a="http://schemas.openxmlformats.org/drawingml/2006/main" noGrp="1"/>
          </p:cNvSpPr>
          <p:nvPr/>
        </p:nvSpPr>
        <p:spPr>
          <a:xfrm xmlns:a="http://schemas.openxmlformats.org/drawingml/2006/main">
            <a:off x="6143625" y="2933700"/>
            <a:ext cx="5095875" cy="866775"/>
          </a:xfrm>
          <a:prstGeom xmlns:a="http://schemas.openxmlformats.org/drawingml/2006/main" prst="rect">
            <a:avLst/>
          </a:prstGeom>
          <a:solidFill xmlns:a="http://schemas.openxmlformats.org/drawingml/2006/main">
            <a:srgbClr val="EAF2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AFEB06E-DC07-4B02-8D75-30A1ACC7B7BC}"/>
              </a:ext>
            </a:extLst>
          </p:cNvPr>
          <p:cNvSpPr>
            <a:spLocks xmlns:a="http://schemas.openxmlformats.org/drawingml/2006/main" noGrp="1"/>
          </p:cNvSpPr>
          <p:nvPr/>
        </p:nvSpPr>
        <p:spPr>
          <a:xfrm xmlns:a="http://schemas.openxmlformats.org/drawingml/2006/main">
            <a:off x="6315075" y="3152775"/>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02A35"/>
                </a:solidFill>
                <a:latin typeface="Arial"/>
                <a:ea typeface="Arial"/>
                <a:cs typeface="Arial"/>
              </a:defRPr>
            </a:pPr>
            <a:r>
              <a:rPr sz="1575" b="1">
                <a:solidFill>
                  <a:srgbClr val="102A35"/>
                </a:solidFill>
                <a:latin typeface="Arial"/>
                <a:ea typeface="Arial"/>
                <a:cs typeface="Arial"/>
              </a:rPr>
              <a:t>4. Relance sans nouveaux documents</a:t>
            </a:r>
          </a:p>
        </p:txBody>
      </p:sp>
      <p:sp>
        <p:nvSpPr>
          <p:cNvPr id="15" name="">
            <a:extLst xmlns:a="http://schemas.openxmlformats.org/drawingml/2006/main">
              <a:ext uri="{FF2B5EF4-FFF2-40B4-BE49-F238E27FC236}">
                <a16:creationId xmlns:a16="http://schemas.microsoft.com/office/drawing/2014/main" id="{D9C49A24-412E-4CD5-83AC-63D75E3BA8D8}"/>
              </a:ext>
            </a:extLst>
          </p:cNvPr>
          <p:cNvSpPr>
            <a:spLocks xmlns:a="http://schemas.openxmlformats.org/drawingml/2006/main" noGrp="1"/>
          </p:cNvSpPr>
          <p:nvPr/>
        </p:nvSpPr>
        <p:spPr>
          <a:xfrm xmlns:a="http://schemas.openxmlformats.org/drawingml/2006/main">
            <a:off x="666750" y="4105275"/>
            <a:ext cx="5095875" cy="866775"/>
          </a:xfrm>
          <a:prstGeom xmlns:a="http://schemas.openxmlformats.org/drawingml/2006/main" prst="rect">
            <a:avLst/>
          </a:prstGeom>
          <a:solidFill xmlns:a="http://schemas.openxmlformats.org/drawingml/2006/main">
            <a:srgbClr val="E5F3E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C787355-EB32-45E5-8944-0A777F5BF8AE}"/>
              </a:ext>
            </a:extLst>
          </p:cNvPr>
          <p:cNvSpPr>
            <a:spLocks xmlns:a="http://schemas.openxmlformats.org/drawingml/2006/main" noGrp="1"/>
          </p:cNvSpPr>
          <p:nvPr/>
        </p:nvSpPr>
        <p:spPr>
          <a:xfrm xmlns:a="http://schemas.openxmlformats.org/drawingml/2006/main">
            <a:off x="838200" y="4324350"/>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02A35"/>
                </a:solidFill>
                <a:latin typeface="Arial"/>
                <a:ea typeface="Arial"/>
                <a:cs typeface="Arial"/>
              </a:defRPr>
            </a:pPr>
            <a:r>
              <a:rPr sz="1575" b="1">
                <a:solidFill>
                  <a:srgbClr val="102A35"/>
                </a:solidFill>
                <a:latin typeface="Arial"/>
                <a:ea typeface="Arial"/>
                <a:cs typeface="Arial"/>
              </a:rPr>
              <a:t>5. Rôles, index, sauvegarde / reprise</a:t>
            </a:r>
          </a:p>
        </p:txBody>
      </p:sp>
      <p:sp>
        <p:nvSpPr>
          <p:cNvPr id="17" name="">
            <a:extLst xmlns:a="http://schemas.openxmlformats.org/drawingml/2006/main">
              <a:ext uri="{FF2B5EF4-FFF2-40B4-BE49-F238E27FC236}">
                <a16:creationId xmlns:a16="http://schemas.microsoft.com/office/drawing/2014/main" id="{C90C9ED1-561B-4D97-8C29-D5AABDD3EAAD}"/>
              </a:ext>
            </a:extLst>
          </p:cNvPr>
          <p:cNvSpPr>
            <a:spLocks xmlns:a="http://schemas.openxmlformats.org/drawingml/2006/main" noGrp="1"/>
          </p:cNvSpPr>
          <p:nvPr/>
        </p:nvSpPr>
        <p:spPr>
          <a:xfrm xmlns:a="http://schemas.openxmlformats.org/drawingml/2006/main">
            <a:off x="6143625" y="4105275"/>
            <a:ext cx="5095875" cy="866775"/>
          </a:xfrm>
          <a:prstGeom xmlns:a="http://schemas.openxmlformats.org/drawingml/2006/main" prst="rect">
            <a:avLst/>
          </a:prstGeom>
          <a:solidFill xmlns:a="http://schemas.openxmlformats.org/drawingml/2006/main">
            <a:srgbClr val="E5F3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AEA9A33-75E5-4E82-BC00-60E0D08C409A}"/>
              </a:ext>
            </a:extLst>
          </p:cNvPr>
          <p:cNvSpPr>
            <a:spLocks xmlns:a="http://schemas.openxmlformats.org/drawingml/2006/main" noGrp="1"/>
          </p:cNvSpPr>
          <p:nvPr/>
        </p:nvSpPr>
        <p:spPr>
          <a:xfrm xmlns:a="http://schemas.openxmlformats.org/drawingml/2006/main">
            <a:off x="6315075" y="4324350"/>
            <a:ext cx="4762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02A35"/>
                </a:solidFill>
                <a:latin typeface="Arial"/>
                <a:ea typeface="Arial"/>
                <a:cs typeface="Arial"/>
              </a:defRPr>
            </a:pPr>
            <a:r>
              <a:rPr sz="1575" b="1">
                <a:solidFill>
                  <a:srgbClr val="102A35"/>
                </a:solidFill>
                <a:latin typeface="Arial"/>
                <a:ea typeface="Arial"/>
                <a:cs typeface="Arial"/>
              </a:rPr>
              <a:t>6. Livrables limités et anonymisés</a:t>
            </a:r>
          </a:p>
        </p:txBody>
      </p:sp>
      <p:sp>
        <p:nvSpPr>
          <p:cNvPr id="19" name="">
            <a:extLst xmlns:a="http://schemas.openxmlformats.org/drawingml/2006/main">
              <a:ext uri="{FF2B5EF4-FFF2-40B4-BE49-F238E27FC236}">
                <a16:creationId xmlns:a16="http://schemas.microsoft.com/office/drawing/2014/main" id="{2D6EF714-5832-4C68-B50C-BDA02518ACA3}"/>
              </a:ext>
            </a:extLst>
          </p:cNvPr>
          <p:cNvSpPr>
            <a:spLocks xmlns:a="http://schemas.openxmlformats.org/drawingml/2006/main" noGrp="1"/>
          </p:cNvSpPr>
          <p:nvPr/>
        </p:nvSpPr>
        <p:spPr>
          <a:xfrm xmlns:a="http://schemas.openxmlformats.org/drawingml/2006/main">
            <a:off x="666750" y="54673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B33B42"/>
                </a:solidFill>
                <a:latin typeface="Arial"/>
                <a:ea typeface="Arial"/>
                <a:cs typeface="Arial"/>
              </a:defRPr>
            </a:pPr>
            <a:r>
              <a:rPr sz="1650" b="1">
                <a:solidFill>
                  <a:srgbClr val="B33B42"/>
                </a:solidFill>
                <a:latin typeface="Arial"/>
                <a:ea typeface="Arial"/>
                <a:cs typeface="Arial"/>
              </a:rPr>
              <a:t>Exécution locale validée. Étude AWS documentaire, sans déploiement.</a:t>
            </a:r>
          </a:p>
        </p:txBody>
      </p:sp>
    </p:spTree>
    <p:extLst>
      <p:ext uri="{BB962C8B-B14F-4D97-AF65-F5344CB8AC3E}">
        <p14:creationId xmlns:p14="http://schemas.microsoft.com/office/powerpoint/2010/main" val="20043692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144F0D-637C-4FA3-B155-2E4F4B14F4D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95CE46-9B70-4D26-8A9E-891C59853D29}"/>
              </a:ext>
            </a:extLst>
          </p:cNvPr>
          <p:cNvSpPr>
            <a:spLocks xmlns:a="http://schemas.openxmlformats.org/drawingml/2006/main" noGrp="1"/>
          </p:cNvSpPr>
          <p:nvPr/>
        </p:nvSpPr>
        <p:spPr>
          <a:xfrm xmlns:a="http://schemas.openxmlformats.org/drawingml/2006/main">
            <a:off x="666750" y="333375"/>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87E8B"/>
                </a:solidFill>
                <a:latin typeface="Arial"/>
                <a:ea typeface="Arial"/>
                <a:cs typeface="Arial"/>
              </a:defRPr>
            </a:pPr>
            <a:r>
              <a:rPr sz="1050" b="1">
                <a:solidFill>
                  <a:srgbClr val="087E8B"/>
                </a:solidFill>
                <a:latin typeface="Arial"/>
                <a:ea typeface="Arial"/>
                <a:cs typeface="Arial"/>
              </a:rPr>
              <a:t>ÉTUDE AWS · NON DÉPLOYÉE</a:t>
            </a:r>
          </a:p>
        </p:txBody>
      </p:sp>
      <p:sp>
        <p:nvSpPr>
          <p:cNvPr id="3" name="">
            <a:extLst xmlns:a="http://schemas.openxmlformats.org/drawingml/2006/main">
              <a:ext uri="{FF2B5EF4-FFF2-40B4-BE49-F238E27FC236}">
                <a16:creationId xmlns:a16="http://schemas.microsoft.com/office/drawing/2014/main" id="{75170882-7F87-4C63-B4F5-5C2C4BA50C81}"/>
              </a:ext>
            </a:extLst>
          </p:cNvPr>
          <p:cNvSpPr>
            <a:spLocks xmlns:a="http://schemas.openxmlformats.org/drawingml/2006/main" noGrp="1"/>
          </p:cNvSpPr>
          <p:nvPr/>
        </p:nvSpPr>
        <p:spPr>
          <a:xfrm xmlns:a="http://schemas.openxmlformats.org/drawingml/2006/main">
            <a:off x="666750" y="7334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23F"/>
                </a:solidFill>
                <a:latin typeface="Arial"/>
                <a:ea typeface="Arial"/>
                <a:cs typeface="Arial"/>
              </a:defRPr>
            </a:pPr>
            <a:r>
              <a:rPr sz="2700" b="1">
                <a:solidFill>
                  <a:srgbClr val="17323F"/>
                </a:solidFill>
                <a:latin typeface="Arial"/>
                <a:ea typeface="Arial"/>
                <a:cs typeface="Arial"/>
              </a:rPr>
              <a:t>Créer un compte et maîtriser les coûts</a:t>
            </a:r>
          </a:p>
        </p:txBody>
      </p:sp>
      <p:sp>
        <p:nvSpPr>
          <p:cNvPr id="4" name="">
            <a:extLst xmlns:a="http://schemas.openxmlformats.org/drawingml/2006/main">
              <a:ext uri="{FF2B5EF4-FFF2-40B4-BE49-F238E27FC236}">
                <a16:creationId xmlns:a16="http://schemas.microsoft.com/office/drawing/2014/main" id="{22A55A4B-6B5B-48D8-BB37-D6C6EE46E37F}"/>
              </a:ext>
            </a:extLst>
          </p:cNvPr>
          <p:cNvSpPr>
            <a:spLocks xmlns:a="http://schemas.openxmlformats.org/drawingml/2006/main" noGrp="1"/>
          </p:cNvSpPr>
          <p:nvPr/>
        </p:nvSpPr>
        <p:spPr>
          <a:xfrm xmlns:a="http://schemas.openxmlformats.org/drawingml/2006/main">
            <a:off x="666750" y="64674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P05  |  Projet pédagogique OpenClassrooms</a:t>
            </a:r>
          </a:p>
        </p:txBody>
      </p:sp>
      <p:sp>
        <p:nvSpPr>
          <p:cNvPr id="5" name="">
            <a:extLst xmlns:a="http://schemas.openxmlformats.org/drawingml/2006/main">
              <a:ext uri="{FF2B5EF4-FFF2-40B4-BE49-F238E27FC236}">
                <a16:creationId xmlns:a16="http://schemas.microsoft.com/office/drawing/2014/main" id="{F3438F70-061D-40B3-AA3F-CAA21498F5F3}"/>
              </a:ext>
            </a:extLst>
          </p:cNvPr>
          <p:cNvSpPr>
            <a:spLocks xmlns:a="http://schemas.openxmlformats.org/drawingml/2006/main" noGrp="1"/>
          </p:cNvSpPr>
          <p:nvPr/>
        </p:nvSpPr>
        <p:spPr>
          <a:xfrm xmlns:a="http://schemas.openxmlformats.org/drawingml/2006/main">
            <a:off x="11068050" y="64674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89B79428-C14E-4149-A419-86DA83A3AD9E}"/>
              </a:ext>
            </a:extLst>
          </p:cNvPr>
          <p:cNvSpPr>
            <a:spLocks xmlns:a="http://schemas.openxmlformats.org/drawingml/2006/main" noGrp="1"/>
          </p:cNvSpPr>
          <p:nvPr/>
        </p:nvSpPr>
        <p:spPr>
          <a:xfrm xmlns:a="http://schemas.openxmlformats.org/drawingml/2006/main">
            <a:off x="666750" y="172402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Compte</a:t>
            </a:r>
          </a:p>
        </p:txBody>
      </p:sp>
      <p:sp>
        <p:nvSpPr>
          <p:cNvPr id="7" name="">
            <a:extLst xmlns:a="http://schemas.openxmlformats.org/drawingml/2006/main">
              <a:ext uri="{FF2B5EF4-FFF2-40B4-BE49-F238E27FC236}">
                <a16:creationId xmlns:a16="http://schemas.microsoft.com/office/drawing/2014/main" id="{87D9BB6E-AF0F-488E-8C30-E45FD9EEE2DD}"/>
              </a:ext>
            </a:extLst>
          </p:cNvPr>
          <p:cNvSpPr>
            <a:spLocks xmlns:a="http://schemas.openxmlformats.org/drawingml/2006/main" noGrp="1"/>
          </p:cNvSpPr>
          <p:nvPr/>
        </p:nvSpPr>
        <p:spPr>
          <a:xfrm xmlns:a="http://schemas.openxmlformats.org/drawingml/2006/main">
            <a:off x="2667000" y="1724025"/>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Inscription, coordonnées et vérification demandées par AWS.</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Aucun compte ni moyen de paiement créé pour cette étude.</a:t>
            </a:r>
          </a:p>
        </p:txBody>
      </p:sp>
      <p:sp>
        <p:nvSpPr>
          <p:cNvPr id="8" name="">
            <a:extLst xmlns:a="http://schemas.openxmlformats.org/drawingml/2006/main">
              <a:ext uri="{FF2B5EF4-FFF2-40B4-BE49-F238E27FC236}">
                <a16:creationId xmlns:a16="http://schemas.microsoft.com/office/drawing/2014/main" id="{04FAF178-EBBA-4A9A-9FC1-745BE1298AB9}"/>
              </a:ext>
            </a:extLst>
          </p:cNvPr>
          <p:cNvSpPr>
            <a:spLocks xmlns:a="http://schemas.openxmlformats.org/drawingml/2006/main" noGrp="1"/>
          </p:cNvSpPr>
          <p:nvPr/>
        </p:nvSpPr>
        <p:spPr>
          <a:xfrm xmlns:a="http://schemas.openxmlformats.org/drawingml/2006/main">
            <a:off x="666750" y="268605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Sécurité</a:t>
            </a:r>
          </a:p>
        </p:txBody>
      </p:sp>
      <p:sp>
        <p:nvSpPr>
          <p:cNvPr id="9" name="">
            <a:extLst xmlns:a="http://schemas.openxmlformats.org/drawingml/2006/main">
              <a:ext uri="{FF2B5EF4-FFF2-40B4-BE49-F238E27FC236}">
                <a16:creationId xmlns:a16="http://schemas.microsoft.com/office/drawing/2014/main" id="{7FDDFC2D-B53B-446B-AC98-2C998972B715}"/>
              </a:ext>
            </a:extLst>
          </p:cNvPr>
          <p:cNvSpPr>
            <a:spLocks xmlns:a="http://schemas.openxmlformats.org/drawingml/2006/main" noGrp="1"/>
          </p:cNvSpPr>
          <p:nvPr/>
        </p:nvSpPr>
        <p:spPr>
          <a:xfrm xmlns:a="http://schemas.openxmlformats.org/drawingml/2006/main">
            <a:off x="2667000" y="2686050"/>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Activer la MFA du compte racine ; réserver ce compte à</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son administration. Utiliser des droits limités au quotidien.</a:t>
            </a:r>
          </a:p>
        </p:txBody>
      </p:sp>
      <p:sp>
        <p:nvSpPr>
          <p:cNvPr id="10" name="">
            <a:extLst xmlns:a="http://schemas.openxmlformats.org/drawingml/2006/main">
              <a:ext uri="{FF2B5EF4-FFF2-40B4-BE49-F238E27FC236}">
                <a16:creationId xmlns:a16="http://schemas.microsoft.com/office/drawing/2014/main" id="{623C62FB-8813-47B1-B280-5D033C6E98D4}"/>
              </a:ext>
            </a:extLst>
          </p:cNvPr>
          <p:cNvSpPr>
            <a:spLocks xmlns:a="http://schemas.openxmlformats.org/drawingml/2006/main" noGrp="1"/>
          </p:cNvSpPr>
          <p:nvPr/>
        </p:nvSpPr>
        <p:spPr>
          <a:xfrm xmlns:a="http://schemas.openxmlformats.org/drawingml/2006/main">
            <a:off x="666750" y="3648075"/>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Budget</a:t>
            </a:r>
          </a:p>
        </p:txBody>
      </p:sp>
      <p:sp>
        <p:nvSpPr>
          <p:cNvPr id="11" name="">
            <a:extLst xmlns:a="http://schemas.openxmlformats.org/drawingml/2006/main">
              <a:ext uri="{FF2B5EF4-FFF2-40B4-BE49-F238E27FC236}">
                <a16:creationId xmlns:a16="http://schemas.microsoft.com/office/drawing/2014/main" id="{62107A47-F213-4141-8E5C-93451EBEA5D3}"/>
              </a:ext>
            </a:extLst>
          </p:cNvPr>
          <p:cNvSpPr>
            <a:spLocks xmlns:a="http://schemas.openxmlformats.org/drawingml/2006/main" noGrp="1"/>
          </p:cNvSpPr>
          <p:nvPr/>
        </p:nvSpPr>
        <p:spPr>
          <a:xfrm xmlns:a="http://schemas.openxmlformats.org/drawingml/2006/main">
            <a:off x="2667000" y="3648075"/>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Choisir la région et estimer calcul, stockage, requêtes,</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transferts, sauvegardes et supervision avant de déployer.</a:t>
            </a:r>
          </a:p>
        </p:txBody>
      </p:sp>
      <p:sp>
        <p:nvSpPr>
          <p:cNvPr id="12" name="">
            <a:extLst xmlns:a="http://schemas.openxmlformats.org/drawingml/2006/main">
              <a:ext uri="{FF2B5EF4-FFF2-40B4-BE49-F238E27FC236}">
                <a16:creationId xmlns:a16="http://schemas.microsoft.com/office/drawing/2014/main" id="{AC88214A-D7E0-43C8-ACFE-3A7F02701A1B}"/>
              </a:ext>
            </a:extLst>
          </p:cNvPr>
          <p:cNvSpPr>
            <a:spLocks xmlns:a="http://schemas.openxmlformats.org/drawingml/2006/main" noGrp="1"/>
          </p:cNvSpPr>
          <p:nvPr/>
        </p:nvSpPr>
        <p:spPr>
          <a:xfrm xmlns:a="http://schemas.openxmlformats.org/drawingml/2006/main">
            <a:off x="666750" y="4610100"/>
            <a:ext cx="180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E8B"/>
                </a:solidFill>
                <a:latin typeface="Arial"/>
                <a:ea typeface="Arial"/>
                <a:cs typeface="Arial"/>
              </a:defRPr>
            </a:pPr>
            <a:r>
              <a:rPr sz="1725" b="1">
                <a:solidFill>
                  <a:srgbClr val="087E8B"/>
                </a:solidFill>
                <a:latin typeface="Arial"/>
                <a:ea typeface="Arial"/>
                <a:cs typeface="Arial"/>
              </a:rPr>
              <a:t>Suivi</a:t>
            </a:r>
          </a:p>
        </p:txBody>
      </p:sp>
      <p:sp>
        <p:nvSpPr>
          <p:cNvPr id="13" name="">
            <a:extLst xmlns:a="http://schemas.openxmlformats.org/drawingml/2006/main">
              <a:ext uri="{FF2B5EF4-FFF2-40B4-BE49-F238E27FC236}">
                <a16:creationId xmlns:a16="http://schemas.microsoft.com/office/drawing/2014/main" id="{135711E0-DA7F-4759-9877-A4A8F39FF9E6}"/>
              </a:ext>
            </a:extLst>
          </p:cNvPr>
          <p:cNvSpPr>
            <a:spLocks xmlns:a="http://schemas.openxmlformats.org/drawingml/2006/main" noGrp="1"/>
          </p:cNvSpPr>
          <p:nvPr/>
        </p:nvSpPr>
        <p:spPr>
          <a:xfrm xmlns:a="http://schemas.openxmlformats.org/drawingml/2006/main">
            <a:off x="2667000" y="4610100"/>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Configurer des alertes budgétaires. Elles préviennent,</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mais ne plafonnent pas automatiquement la facture.</a:t>
            </a:r>
          </a:p>
        </p:txBody>
      </p:sp>
      <p:sp>
        <p:nvSpPr>
          <p:cNvPr id="14" name="">
            <a:extLst xmlns:a="http://schemas.openxmlformats.org/drawingml/2006/main">
              <a:ext uri="{FF2B5EF4-FFF2-40B4-BE49-F238E27FC236}">
                <a16:creationId xmlns:a16="http://schemas.microsoft.com/office/drawing/2014/main" id="{4B30CD81-B816-4737-A33D-C72C6DD0309B}"/>
              </a:ext>
            </a:extLst>
          </p:cNvPr>
          <p:cNvSpPr>
            <a:spLocks xmlns:a="http://schemas.openxmlformats.org/drawingml/2006/main" noGrp="1"/>
          </p:cNvSpPr>
          <p:nvPr/>
        </p:nvSpPr>
        <p:spPr>
          <a:xfrm xmlns:a="http://schemas.openxmlformats.org/drawingml/2006/main">
            <a:off x="666750" y="581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23F"/>
                </a:solidFill>
                <a:latin typeface="Arial"/>
                <a:ea typeface="Arial"/>
                <a:cs typeface="Arial"/>
              </a:defRPr>
            </a:pPr>
            <a:r>
              <a:rPr sz="1425" b="1">
                <a:solidFill>
                  <a:srgbClr val="17323F"/>
                </a:solidFill>
                <a:latin typeface="Arial"/>
                <a:ea typeface="Arial"/>
                <a:cs typeface="Arial"/>
              </a:rPr>
              <a:t>Pas de montant inventé : le chiffrage dépend de la région, de la charge et du service.</a:t>
            </a:r>
          </a:p>
        </p:txBody>
      </p:sp>
    </p:spTree>
    <p:extLst>
      <p:ext uri="{BB962C8B-B14F-4D97-AF65-F5344CB8AC3E}">
        <p14:creationId xmlns:p14="http://schemas.microsoft.com/office/powerpoint/2010/main" val="19617732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33D37E4-4760-4D78-90CA-642C01711C9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21CEA0-D4C5-46A5-8454-F5660732A2DB}"/>
              </a:ext>
            </a:extLst>
          </p:cNvPr>
          <p:cNvSpPr>
            <a:spLocks xmlns:a="http://schemas.openxmlformats.org/drawingml/2006/main" noGrp="1"/>
          </p:cNvSpPr>
          <p:nvPr/>
        </p:nvSpPr>
        <p:spPr>
          <a:xfrm xmlns:a="http://schemas.openxmlformats.org/drawingml/2006/main">
            <a:off x="666750" y="333375"/>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87E8B"/>
                </a:solidFill>
                <a:latin typeface="Arial"/>
                <a:ea typeface="Arial"/>
                <a:cs typeface="Arial"/>
              </a:defRPr>
            </a:pPr>
            <a:r>
              <a:rPr sz="1050" b="1">
                <a:solidFill>
                  <a:srgbClr val="087E8B"/>
                </a:solidFill>
                <a:latin typeface="Arial"/>
                <a:ea typeface="Arial"/>
                <a:cs typeface="Arial"/>
              </a:rPr>
              <a:t>ÉTUDE AWS · NON DÉPLOYÉE</a:t>
            </a:r>
          </a:p>
        </p:txBody>
      </p:sp>
      <p:sp>
        <p:nvSpPr>
          <p:cNvPr id="3" name="">
            <a:extLst xmlns:a="http://schemas.openxmlformats.org/drawingml/2006/main">
              <a:ext uri="{FF2B5EF4-FFF2-40B4-BE49-F238E27FC236}">
                <a16:creationId xmlns:a16="http://schemas.microsoft.com/office/drawing/2014/main" id="{78C38DE7-F36D-449D-8DD4-EF6EDB110273}"/>
              </a:ext>
            </a:extLst>
          </p:cNvPr>
          <p:cNvSpPr>
            <a:spLocks xmlns:a="http://schemas.openxmlformats.org/drawingml/2006/main" noGrp="1"/>
          </p:cNvSpPr>
          <p:nvPr/>
        </p:nvSpPr>
        <p:spPr>
          <a:xfrm xmlns:a="http://schemas.openxmlformats.org/drawingml/2006/main">
            <a:off x="666750" y="7334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23F"/>
                </a:solidFill>
                <a:latin typeface="Arial"/>
                <a:ea typeface="Arial"/>
                <a:cs typeface="Arial"/>
              </a:defRPr>
            </a:pPr>
            <a:r>
              <a:rPr sz="2700" b="1">
                <a:solidFill>
                  <a:srgbClr val="17323F"/>
                </a:solidFill>
                <a:latin typeface="Arial"/>
                <a:ea typeface="Arial"/>
                <a:cs typeface="Arial"/>
              </a:rPr>
              <a:t>MongoDB conteneurisé sur Amazon ECS</a:t>
            </a:r>
          </a:p>
        </p:txBody>
      </p:sp>
      <p:sp>
        <p:nvSpPr>
          <p:cNvPr id="4" name="">
            <a:extLst xmlns:a="http://schemas.openxmlformats.org/drawingml/2006/main">
              <a:ext uri="{FF2B5EF4-FFF2-40B4-BE49-F238E27FC236}">
                <a16:creationId xmlns:a16="http://schemas.microsoft.com/office/drawing/2014/main" id="{EE6F0767-C59A-4636-AC3A-AD447DFDB5C4}"/>
              </a:ext>
            </a:extLst>
          </p:cNvPr>
          <p:cNvSpPr>
            <a:spLocks xmlns:a="http://schemas.openxmlformats.org/drawingml/2006/main" noGrp="1"/>
          </p:cNvSpPr>
          <p:nvPr/>
        </p:nvSpPr>
        <p:spPr>
          <a:xfrm xmlns:a="http://schemas.openxmlformats.org/drawingml/2006/main">
            <a:off x="666750" y="64674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P05  |  Projet pédagogique OpenClassrooms</a:t>
            </a:r>
          </a:p>
        </p:txBody>
      </p:sp>
      <p:sp>
        <p:nvSpPr>
          <p:cNvPr id="5" name="">
            <a:extLst xmlns:a="http://schemas.openxmlformats.org/drawingml/2006/main">
              <a:ext uri="{FF2B5EF4-FFF2-40B4-BE49-F238E27FC236}">
                <a16:creationId xmlns:a16="http://schemas.microsoft.com/office/drawing/2014/main" id="{67524E3B-46B5-4B3B-B0FC-5ACE093DF7DC}"/>
              </a:ext>
            </a:extLst>
          </p:cNvPr>
          <p:cNvSpPr>
            <a:spLocks xmlns:a="http://schemas.openxmlformats.org/drawingml/2006/main" noGrp="1"/>
          </p:cNvSpPr>
          <p:nvPr/>
        </p:nvSpPr>
        <p:spPr>
          <a:xfrm xmlns:a="http://schemas.openxmlformats.org/drawingml/2006/main">
            <a:off x="11068050" y="64674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DF286596-23FC-428C-84AD-F4CEEE21E825}"/>
              </a:ext>
            </a:extLst>
          </p:cNvPr>
          <p:cNvSpPr>
            <a:spLocks xmlns:a="http://schemas.openxmlformats.org/drawingml/2006/main" noGrp="1"/>
          </p:cNvSpPr>
          <p:nvPr/>
        </p:nvSpPr>
        <p:spPr>
          <a:xfrm xmlns:a="http://schemas.openxmlformats.org/drawingml/2006/main">
            <a:off x="666750" y="18097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B"/>
                </a:solidFill>
                <a:latin typeface="Arial"/>
                <a:ea typeface="Arial"/>
                <a:cs typeface="Arial"/>
              </a:defRPr>
            </a:pPr>
            <a:r>
              <a:rPr sz="1875" b="1">
                <a:solidFill>
                  <a:srgbClr val="087E8B"/>
                </a:solidFill>
                <a:latin typeface="Arial"/>
                <a:ea typeface="Arial"/>
                <a:cs typeface="Arial"/>
              </a:rPr>
              <a:t>Image MongoDB</a:t>
            </a:r>
          </a:p>
        </p:txBody>
      </p:sp>
      <p:sp>
        <p:nvSpPr>
          <p:cNvPr id="7" name="">
            <a:extLst xmlns:a="http://schemas.openxmlformats.org/drawingml/2006/main">
              <a:ext uri="{FF2B5EF4-FFF2-40B4-BE49-F238E27FC236}">
                <a16:creationId xmlns:a16="http://schemas.microsoft.com/office/drawing/2014/main" id="{24A64AFB-C605-49AC-AF78-7FD9D972D577}"/>
              </a:ext>
            </a:extLst>
          </p:cNvPr>
          <p:cNvSpPr>
            <a:spLocks xmlns:a="http://schemas.openxmlformats.org/drawingml/2006/main" noGrp="1"/>
          </p:cNvSpPr>
          <p:nvPr/>
        </p:nvSpPr>
        <p:spPr>
          <a:xfrm xmlns:a="http://schemas.openxmlformats.org/drawingml/2006/main">
            <a:off x="4286250" y="18097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B"/>
                </a:solidFill>
                <a:latin typeface="Arial"/>
                <a:ea typeface="Arial"/>
                <a:cs typeface="Arial"/>
              </a:defRPr>
            </a:pPr>
            <a:r>
              <a:rPr sz="1875" b="1">
                <a:solidFill>
                  <a:srgbClr val="087E8B"/>
                </a:solidFill>
                <a:latin typeface="Arial"/>
                <a:ea typeface="Arial"/>
                <a:cs typeface="Arial"/>
              </a:rPr>
              <a:t>Définition de tâche ECS</a:t>
            </a:r>
          </a:p>
        </p:txBody>
      </p:sp>
      <p:sp>
        <p:nvSpPr>
          <p:cNvPr id="8" name="">
            <a:extLst xmlns:a="http://schemas.openxmlformats.org/drawingml/2006/main">
              <a:ext uri="{FF2B5EF4-FFF2-40B4-BE49-F238E27FC236}">
                <a16:creationId xmlns:a16="http://schemas.microsoft.com/office/drawing/2014/main" id="{3E6C8EC3-CCF6-4EA0-A5AA-D0DCD195CF5C}"/>
              </a:ext>
            </a:extLst>
          </p:cNvPr>
          <p:cNvSpPr>
            <a:spLocks xmlns:a="http://schemas.openxmlformats.org/drawingml/2006/main" noGrp="1"/>
          </p:cNvSpPr>
          <p:nvPr/>
        </p:nvSpPr>
        <p:spPr>
          <a:xfrm xmlns:a="http://schemas.openxmlformats.org/drawingml/2006/main">
            <a:off x="8953500" y="180975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B"/>
                </a:solidFill>
                <a:latin typeface="Arial"/>
                <a:ea typeface="Arial"/>
                <a:cs typeface="Arial"/>
              </a:defRPr>
            </a:pPr>
            <a:r>
              <a:rPr sz="1875" b="1">
                <a:solidFill>
                  <a:srgbClr val="087E8B"/>
                </a:solidFill>
                <a:latin typeface="Arial"/>
                <a:ea typeface="Arial"/>
                <a:cs typeface="Arial"/>
              </a:rPr>
              <a:t>Service ECS</a:t>
            </a:r>
          </a:p>
        </p:txBody>
      </p:sp>
      <p:sp>
        <p:nvSpPr>
          <p:cNvPr id="9" name="">
            <a:extLst xmlns:a="http://schemas.openxmlformats.org/drawingml/2006/main">
              <a:ext uri="{FF2B5EF4-FFF2-40B4-BE49-F238E27FC236}">
                <a16:creationId xmlns:a16="http://schemas.microsoft.com/office/drawing/2014/main" id="{6C56129E-47BF-41AC-A924-6790CFFD0726}"/>
              </a:ext>
            </a:extLst>
          </p:cNvPr>
          <p:cNvSpPr>
            <a:spLocks xmlns:a="http://schemas.openxmlformats.org/drawingml/2006/main" noGrp="1"/>
          </p:cNvSpPr>
          <p:nvPr/>
        </p:nvSpPr>
        <p:spPr>
          <a:xfrm xmlns:a="http://schemas.openxmlformats.org/drawingml/2006/main">
            <a:off x="3762375" y="18097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3F"/>
                </a:solidFill>
                <a:latin typeface="Arial"/>
                <a:ea typeface="Arial"/>
                <a:cs typeface="Arial"/>
              </a:defRPr>
            </a:pPr>
            <a:r>
              <a:rPr sz="2100" b="0">
                <a:solidFill>
                  <a:srgbClr val="17323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8DB41855-446D-47E5-AEA1-20026035B167}"/>
              </a:ext>
            </a:extLst>
          </p:cNvPr>
          <p:cNvSpPr>
            <a:spLocks xmlns:a="http://schemas.openxmlformats.org/drawingml/2006/main" noGrp="1"/>
          </p:cNvSpPr>
          <p:nvPr/>
        </p:nvSpPr>
        <p:spPr>
          <a:xfrm xmlns:a="http://schemas.openxmlformats.org/drawingml/2006/main">
            <a:off x="8239125" y="18097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3F"/>
                </a:solidFill>
                <a:latin typeface="Arial"/>
                <a:ea typeface="Arial"/>
                <a:cs typeface="Arial"/>
              </a:defRPr>
            </a:pPr>
            <a:r>
              <a:rPr sz="2100" b="0">
                <a:solidFill>
                  <a:srgbClr val="17323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EF0916AD-D225-4590-BECE-45FE516890F3}"/>
              </a:ext>
            </a:extLst>
          </p:cNvPr>
          <p:cNvSpPr>
            <a:spLocks xmlns:a="http://schemas.openxmlformats.org/drawingml/2006/main" noGrp="1"/>
          </p:cNvSpPr>
          <p:nvPr/>
        </p:nvSpPr>
        <p:spPr>
          <a:xfrm xmlns:a="http://schemas.openxmlformats.org/drawingml/2006/main">
            <a:off x="666750" y="2457450"/>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Version fixée</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Configuration et port</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Secrets hors de l’image</a:t>
            </a:r>
          </a:p>
        </p:txBody>
      </p:sp>
      <p:sp>
        <p:nvSpPr>
          <p:cNvPr id="12" name="">
            <a:extLst xmlns:a="http://schemas.openxmlformats.org/drawingml/2006/main">
              <a:ext uri="{FF2B5EF4-FFF2-40B4-BE49-F238E27FC236}">
                <a16:creationId xmlns:a16="http://schemas.microsoft.com/office/drawing/2014/main" id="{2E34EB82-1203-4CF8-A01D-068971DC84F0}"/>
              </a:ext>
            </a:extLst>
          </p:cNvPr>
          <p:cNvSpPr>
            <a:spLocks xmlns:a="http://schemas.openxmlformats.org/drawingml/2006/main" noGrp="1"/>
          </p:cNvSpPr>
          <p:nvPr/>
        </p:nvSpPr>
        <p:spPr>
          <a:xfrm xmlns:a="http://schemas.openxmlformats.org/drawingml/2006/main">
            <a:off x="4286250" y="2457450"/>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CPU, mémoire, réseau</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Rôle IAM et secrets</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Montage du stockage</a:t>
            </a:r>
          </a:p>
        </p:txBody>
      </p:sp>
      <p:sp>
        <p:nvSpPr>
          <p:cNvPr id="13" name="">
            <a:extLst xmlns:a="http://schemas.openxmlformats.org/drawingml/2006/main">
              <a:ext uri="{FF2B5EF4-FFF2-40B4-BE49-F238E27FC236}">
                <a16:creationId xmlns:a16="http://schemas.microsoft.com/office/drawing/2014/main" id="{A2F6930D-242F-42EE-BCC0-D2886B306619}"/>
              </a:ext>
            </a:extLst>
          </p:cNvPr>
          <p:cNvSpPr>
            <a:spLocks xmlns:a="http://schemas.openxmlformats.org/drawingml/2006/main" noGrp="1"/>
          </p:cNvSpPr>
          <p:nvPr/>
        </p:nvSpPr>
        <p:spPr>
          <a:xfrm xmlns:a="http://schemas.openxmlformats.org/drawingml/2006/main">
            <a:off x="8953500" y="2457450"/>
            <a:ext cx="257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Exécute la tâche</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Surveille son état</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Redémarre si besoin</a:t>
            </a:r>
          </a:p>
        </p:txBody>
      </p:sp>
      <p:sp>
        <p:nvSpPr>
          <p:cNvPr id="14" name="">
            <a:extLst xmlns:a="http://schemas.openxmlformats.org/drawingml/2006/main">
              <a:ext uri="{FF2B5EF4-FFF2-40B4-BE49-F238E27FC236}">
                <a16:creationId xmlns:a16="http://schemas.microsoft.com/office/drawing/2014/main" id="{9F718A88-D9B9-4866-ACBC-E68F46B51A31}"/>
              </a:ext>
            </a:extLst>
          </p:cNvPr>
          <p:cNvSpPr>
            <a:spLocks xmlns:a="http://schemas.openxmlformats.org/drawingml/2006/main" noGrp="1"/>
          </p:cNvSpPr>
          <p:nvPr/>
        </p:nvSpPr>
        <p:spPr>
          <a:xfrm xmlns:a="http://schemas.openxmlformats.org/drawingml/2006/main">
            <a:off x="666750" y="40957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23F"/>
                </a:solidFill>
                <a:latin typeface="Arial"/>
                <a:ea typeface="Arial"/>
                <a:cs typeface="Arial"/>
              </a:defRPr>
            </a:pPr>
            <a:r>
              <a:rPr sz="1950" b="1">
                <a:solidFill>
                  <a:srgbClr val="17323F"/>
                </a:solidFill>
                <a:latin typeface="Arial"/>
                <a:ea typeface="Arial"/>
                <a:cs typeface="Arial"/>
              </a:rPr>
              <a:t>Point critique : la persistance</a:t>
            </a:r>
          </a:p>
        </p:txBody>
      </p:sp>
      <p:sp>
        <p:nvSpPr>
          <p:cNvPr id="15" name="">
            <a:extLst xmlns:a="http://schemas.openxmlformats.org/drawingml/2006/main">
              <a:ext uri="{FF2B5EF4-FFF2-40B4-BE49-F238E27FC236}">
                <a16:creationId xmlns:a16="http://schemas.microsoft.com/office/drawing/2014/main" id="{DDC77AA8-9EAE-4585-88FB-F2E6AE26BE87}"/>
              </a:ext>
            </a:extLst>
          </p:cNvPr>
          <p:cNvSpPr>
            <a:spLocks xmlns:a="http://schemas.openxmlformats.org/drawingml/2006/main" noGrp="1"/>
          </p:cNvSpPr>
          <p:nvPr/>
        </p:nvSpPr>
        <p:spPr>
          <a:xfrm xmlns:a="http://schemas.openxmlformats.org/drawingml/2006/main">
            <a:off x="666750" y="4695825"/>
            <a:ext cx="10858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Le disque éphémère d’une tâche ne suffit pas pour une base durable.</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Étudier et tester le volume, son cycle de vie et la restauration.</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ECS orchestre les conteneurs ; il n’administre pas MongoDB à notre place.</a:t>
            </a:r>
          </a:p>
        </p:txBody>
      </p:sp>
    </p:spTree>
    <p:extLst>
      <p:ext uri="{BB962C8B-B14F-4D97-AF65-F5344CB8AC3E}">
        <p14:creationId xmlns:p14="http://schemas.microsoft.com/office/powerpoint/2010/main" val="7577041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B3E50C-DEF5-4FF4-8037-AE0A3EDCA09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DDEED4-64D0-4DCB-B985-BEE580003E98}"/>
              </a:ext>
            </a:extLst>
          </p:cNvPr>
          <p:cNvSpPr>
            <a:spLocks xmlns:a="http://schemas.openxmlformats.org/drawingml/2006/main" noGrp="1"/>
          </p:cNvSpPr>
          <p:nvPr/>
        </p:nvSpPr>
        <p:spPr>
          <a:xfrm xmlns:a="http://schemas.openxmlformats.org/drawingml/2006/main">
            <a:off x="666750" y="333375"/>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87E8B"/>
                </a:solidFill>
                <a:latin typeface="Arial"/>
                <a:ea typeface="Arial"/>
                <a:cs typeface="Arial"/>
              </a:defRPr>
            </a:pPr>
            <a:r>
              <a:rPr sz="1050" b="1">
                <a:solidFill>
                  <a:srgbClr val="087E8B"/>
                </a:solidFill>
                <a:latin typeface="Arial"/>
                <a:ea typeface="Arial"/>
                <a:cs typeface="Arial"/>
              </a:rPr>
              <a:t>ÉTUDE AWS · NON DÉPLOYÉE</a:t>
            </a:r>
          </a:p>
        </p:txBody>
      </p:sp>
      <p:sp>
        <p:nvSpPr>
          <p:cNvPr id="3" name="">
            <a:extLst xmlns:a="http://schemas.openxmlformats.org/drawingml/2006/main">
              <a:ext uri="{FF2B5EF4-FFF2-40B4-BE49-F238E27FC236}">
                <a16:creationId xmlns:a16="http://schemas.microsoft.com/office/drawing/2014/main" id="{5C285598-07E1-4BC1-B28A-7291E06578D9}"/>
              </a:ext>
            </a:extLst>
          </p:cNvPr>
          <p:cNvSpPr>
            <a:spLocks xmlns:a="http://schemas.openxmlformats.org/drawingml/2006/main" noGrp="1"/>
          </p:cNvSpPr>
          <p:nvPr/>
        </p:nvSpPr>
        <p:spPr>
          <a:xfrm xmlns:a="http://schemas.openxmlformats.org/drawingml/2006/main">
            <a:off x="666750" y="7334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23F"/>
                </a:solidFill>
                <a:latin typeface="Arial"/>
                <a:ea typeface="Arial"/>
                <a:cs typeface="Arial"/>
              </a:defRPr>
            </a:pPr>
            <a:r>
              <a:rPr sz="2700" b="1">
                <a:solidFill>
                  <a:srgbClr val="17323F"/>
                </a:solidFill>
                <a:latin typeface="Arial"/>
                <a:ea typeface="Arial"/>
                <a:cs typeface="Arial"/>
              </a:rPr>
              <a:t>RDS, DocumentDB et MongoDB ne se confondent pas</a:t>
            </a:r>
          </a:p>
        </p:txBody>
      </p:sp>
      <p:sp>
        <p:nvSpPr>
          <p:cNvPr id="4" name="">
            <a:extLst xmlns:a="http://schemas.openxmlformats.org/drawingml/2006/main">
              <a:ext uri="{FF2B5EF4-FFF2-40B4-BE49-F238E27FC236}">
                <a16:creationId xmlns:a16="http://schemas.microsoft.com/office/drawing/2014/main" id="{B7B8C7F0-9E94-4E62-BF4E-C45C0429348D}"/>
              </a:ext>
            </a:extLst>
          </p:cNvPr>
          <p:cNvSpPr>
            <a:spLocks xmlns:a="http://schemas.openxmlformats.org/drawingml/2006/main" noGrp="1"/>
          </p:cNvSpPr>
          <p:nvPr/>
        </p:nvSpPr>
        <p:spPr>
          <a:xfrm xmlns:a="http://schemas.openxmlformats.org/drawingml/2006/main">
            <a:off x="666750" y="64674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P05  |  Projet pédagogique OpenClassrooms</a:t>
            </a:r>
          </a:p>
        </p:txBody>
      </p:sp>
      <p:sp>
        <p:nvSpPr>
          <p:cNvPr id="5" name="">
            <a:extLst xmlns:a="http://schemas.openxmlformats.org/drawingml/2006/main">
              <a:ext uri="{FF2B5EF4-FFF2-40B4-BE49-F238E27FC236}">
                <a16:creationId xmlns:a16="http://schemas.microsoft.com/office/drawing/2014/main" id="{DD01CA23-6579-4163-8718-9D3E5CC34A73}"/>
              </a:ext>
            </a:extLst>
          </p:cNvPr>
          <p:cNvSpPr>
            <a:spLocks xmlns:a="http://schemas.openxmlformats.org/drawingml/2006/main" noGrp="1"/>
          </p:cNvSpPr>
          <p:nvPr/>
        </p:nvSpPr>
        <p:spPr>
          <a:xfrm xmlns:a="http://schemas.openxmlformats.org/drawingml/2006/main">
            <a:off x="11068050" y="64674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A77AC67B-7E00-4274-A987-24F81F90908B}"/>
              </a:ext>
            </a:extLst>
          </p:cNvPr>
          <p:cNvSpPr>
            <a:spLocks xmlns:a="http://schemas.openxmlformats.org/drawingml/2006/main" noGrp="1"/>
          </p:cNvSpPr>
          <p:nvPr/>
        </p:nvSpPr>
        <p:spPr>
          <a:xfrm xmlns:a="http://schemas.openxmlformats.org/drawingml/2006/main">
            <a:off x="666750" y="17145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E8B"/>
                </a:solidFill>
                <a:latin typeface="Arial"/>
                <a:ea typeface="Arial"/>
                <a:cs typeface="Arial"/>
              </a:defRPr>
            </a:pPr>
            <a:r>
              <a:rPr sz="1950" b="1">
                <a:solidFill>
                  <a:srgbClr val="087E8B"/>
                </a:solidFill>
                <a:latin typeface="Arial"/>
                <a:ea typeface="Arial"/>
                <a:cs typeface="Arial"/>
              </a:rPr>
              <a:t>Amazon RDS</a:t>
            </a:r>
          </a:p>
        </p:txBody>
      </p:sp>
      <p:sp>
        <p:nvSpPr>
          <p:cNvPr id="7" name="">
            <a:extLst xmlns:a="http://schemas.openxmlformats.org/drawingml/2006/main">
              <a:ext uri="{FF2B5EF4-FFF2-40B4-BE49-F238E27FC236}">
                <a16:creationId xmlns:a16="http://schemas.microsoft.com/office/drawing/2014/main" id="{87383112-119F-4785-98E0-785B7B2EFD97}"/>
              </a:ext>
            </a:extLst>
          </p:cNvPr>
          <p:cNvSpPr>
            <a:spLocks xmlns:a="http://schemas.openxmlformats.org/drawingml/2006/main" noGrp="1"/>
          </p:cNvSpPr>
          <p:nvPr/>
        </p:nvSpPr>
        <p:spPr>
          <a:xfrm xmlns:a="http://schemas.openxmlformats.org/drawingml/2006/main">
            <a:off x="666750" y="23812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Bases relationnelles gérées.</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Pas de moteur MongoDB dans RDS.</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Ce n’est pas la cible de ce script.</a:t>
            </a:r>
          </a:p>
        </p:txBody>
      </p:sp>
      <p:sp>
        <p:nvSpPr>
          <p:cNvPr id="8" name="">
            <a:extLst xmlns:a="http://schemas.openxmlformats.org/drawingml/2006/main">
              <a:ext uri="{FF2B5EF4-FFF2-40B4-BE49-F238E27FC236}">
                <a16:creationId xmlns:a16="http://schemas.microsoft.com/office/drawing/2014/main" id="{9F94E867-699A-46A4-B3F1-58F58DCB2600}"/>
              </a:ext>
            </a:extLst>
          </p:cNvPr>
          <p:cNvSpPr>
            <a:spLocks xmlns:a="http://schemas.openxmlformats.org/drawingml/2006/main" noGrp="1"/>
          </p:cNvSpPr>
          <p:nvPr/>
        </p:nvSpPr>
        <p:spPr>
          <a:xfrm xmlns:a="http://schemas.openxmlformats.org/drawingml/2006/main">
            <a:off x="6572250" y="17145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E8B"/>
                </a:solidFill>
                <a:latin typeface="Arial"/>
                <a:ea typeface="Arial"/>
                <a:cs typeface="Arial"/>
              </a:defRPr>
            </a:pPr>
            <a:r>
              <a:rPr sz="1950" b="1">
                <a:solidFill>
                  <a:srgbClr val="087E8B"/>
                </a:solidFill>
                <a:latin typeface="Arial"/>
                <a:ea typeface="Arial"/>
                <a:cs typeface="Arial"/>
              </a:rPr>
              <a:t>Amazon DocumentDB</a:t>
            </a:r>
          </a:p>
        </p:txBody>
      </p:sp>
      <p:sp>
        <p:nvSpPr>
          <p:cNvPr id="9" name="">
            <a:extLst xmlns:a="http://schemas.openxmlformats.org/drawingml/2006/main">
              <a:ext uri="{FF2B5EF4-FFF2-40B4-BE49-F238E27FC236}">
                <a16:creationId xmlns:a16="http://schemas.microsoft.com/office/drawing/2014/main" id="{4B461A53-A97C-4107-A9B3-8E43BC677662}"/>
              </a:ext>
            </a:extLst>
          </p:cNvPr>
          <p:cNvSpPr>
            <a:spLocks xmlns:a="http://schemas.openxmlformats.org/drawingml/2006/main" noGrp="1"/>
          </p:cNvSpPr>
          <p:nvPr/>
        </p:nvSpPr>
        <p:spPr>
          <a:xfrm xmlns:a="http://schemas.openxmlformats.org/drawingml/2006/main">
            <a:off x="6572250" y="238125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Service distinct, compatible avec</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une partie des API MongoDB.</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Ce n’est pas le moteur MongoDB.</a:t>
            </a:r>
          </a:p>
        </p:txBody>
      </p:sp>
      <p:sp>
        <p:nvSpPr>
          <p:cNvPr id="10" name="">
            <a:extLst xmlns:a="http://schemas.openxmlformats.org/drawingml/2006/main">
              <a:ext uri="{FF2B5EF4-FFF2-40B4-BE49-F238E27FC236}">
                <a16:creationId xmlns:a16="http://schemas.microsoft.com/office/drawing/2014/main" id="{00C6A57C-0107-4F3F-92E3-744D81E6424F}"/>
              </a:ext>
            </a:extLst>
          </p:cNvPr>
          <p:cNvSpPr>
            <a:spLocks xmlns:a="http://schemas.openxmlformats.org/drawingml/2006/main" noGrp="1"/>
          </p:cNvSpPr>
          <p:nvPr/>
        </p:nvSpPr>
        <p:spPr>
          <a:xfrm xmlns:a="http://schemas.openxmlformats.org/drawingml/2006/main">
            <a:off x="666750" y="41433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23F"/>
                </a:solidFill>
                <a:latin typeface="Arial"/>
                <a:ea typeface="Arial"/>
                <a:cs typeface="Arial"/>
              </a:defRPr>
            </a:pPr>
            <a:r>
              <a:rPr sz="1950" b="1">
                <a:solidFill>
                  <a:srgbClr val="17323F"/>
                </a:solidFill>
                <a:latin typeface="Arial"/>
                <a:ea typeface="Arial"/>
                <a:cs typeface="Arial"/>
              </a:rPr>
              <a:t>Avant de choisir DocumentDB</a:t>
            </a:r>
          </a:p>
        </p:txBody>
      </p:sp>
      <p:sp>
        <p:nvSpPr>
          <p:cNvPr id="11" name="">
            <a:extLst xmlns:a="http://schemas.openxmlformats.org/drawingml/2006/main">
              <a:ext uri="{FF2B5EF4-FFF2-40B4-BE49-F238E27FC236}">
                <a16:creationId xmlns:a16="http://schemas.microsoft.com/office/drawing/2014/main" id="{AF47608A-1C51-4D50-A2A3-0ED9CD81CCB1}"/>
              </a:ext>
            </a:extLst>
          </p:cNvPr>
          <p:cNvSpPr>
            <a:spLocks xmlns:a="http://schemas.openxmlformats.org/drawingml/2006/main" noGrp="1"/>
          </p:cNvSpPr>
          <p:nvPr/>
        </p:nvSpPr>
        <p:spPr>
          <a:xfrm xmlns:a="http://schemas.openxmlformats.org/drawingml/2006/main">
            <a:off x="666750" y="47625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Tester versions du pilote, commandes, types, index et authentification.</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Rejouer migration et contrôles sur une base d’essai autorisée.</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Comparer coût et exploitation avec MongoDB auto-administré sur ECS.</a:t>
            </a:r>
          </a:p>
        </p:txBody>
      </p:sp>
    </p:spTree>
    <p:extLst>
      <p:ext uri="{BB962C8B-B14F-4D97-AF65-F5344CB8AC3E}">
        <p14:creationId xmlns:p14="http://schemas.microsoft.com/office/powerpoint/2010/main" val="14130478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FE56F6-69D0-4DF4-9C2B-AAC946A84A7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54910E-0775-4D9B-8C48-080FE4FDC71C}"/>
              </a:ext>
            </a:extLst>
          </p:cNvPr>
          <p:cNvSpPr>
            <a:spLocks xmlns:a="http://schemas.openxmlformats.org/drawingml/2006/main" noGrp="1"/>
          </p:cNvSpPr>
          <p:nvPr/>
        </p:nvSpPr>
        <p:spPr>
          <a:xfrm xmlns:a="http://schemas.openxmlformats.org/drawingml/2006/main">
            <a:off x="666750" y="333375"/>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87E8B"/>
                </a:solidFill>
                <a:latin typeface="Arial"/>
                <a:ea typeface="Arial"/>
                <a:cs typeface="Arial"/>
              </a:defRPr>
            </a:pPr>
            <a:r>
              <a:rPr sz="1050" b="1">
                <a:solidFill>
                  <a:srgbClr val="087E8B"/>
                </a:solidFill>
                <a:latin typeface="Arial"/>
                <a:ea typeface="Arial"/>
                <a:cs typeface="Arial"/>
              </a:rPr>
              <a:t>ÉTUDE AWS · NON DÉPLOYÉE</a:t>
            </a:r>
          </a:p>
        </p:txBody>
      </p:sp>
      <p:sp>
        <p:nvSpPr>
          <p:cNvPr id="3" name="">
            <a:extLst xmlns:a="http://schemas.openxmlformats.org/drawingml/2006/main">
              <a:ext uri="{FF2B5EF4-FFF2-40B4-BE49-F238E27FC236}">
                <a16:creationId xmlns:a16="http://schemas.microsoft.com/office/drawing/2014/main" id="{9C9E2118-CDEA-4764-A45A-0A14E22A6D31}"/>
              </a:ext>
            </a:extLst>
          </p:cNvPr>
          <p:cNvSpPr>
            <a:spLocks xmlns:a="http://schemas.openxmlformats.org/drawingml/2006/main" noGrp="1"/>
          </p:cNvSpPr>
          <p:nvPr/>
        </p:nvSpPr>
        <p:spPr>
          <a:xfrm xmlns:a="http://schemas.openxmlformats.org/drawingml/2006/main">
            <a:off x="666750" y="7334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23F"/>
                </a:solidFill>
                <a:latin typeface="Arial"/>
                <a:ea typeface="Arial"/>
                <a:cs typeface="Arial"/>
              </a:defRPr>
            </a:pPr>
            <a:r>
              <a:rPr sz="2700" b="1">
                <a:solidFill>
                  <a:srgbClr val="17323F"/>
                </a:solidFill>
                <a:latin typeface="Arial"/>
                <a:ea typeface="Arial"/>
                <a:cs typeface="Arial"/>
              </a:rPr>
              <a:t>Sauvegarder, surveiller et tester la reprise</a:t>
            </a:r>
          </a:p>
        </p:txBody>
      </p:sp>
      <p:sp>
        <p:nvSpPr>
          <p:cNvPr id="4" name="">
            <a:extLst xmlns:a="http://schemas.openxmlformats.org/drawingml/2006/main">
              <a:ext uri="{FF2B5EF4-FFF2-40B4-BE49-F238E27FC236}">
                <a16:creationId xmlns:a16="http://schemas.microsoft.com/office/drawing/2014/main" id="{088DCD30-BCDB-45D9-AE43-930F75EFD707}"/>
              </a:ext>
            </a:extLst>
          </p:cNvPr>
          <p:cNvSpPr>
            <a:spLocks xmlns:a="http://schemas.openxmlformats.org/drawingml/2006/main" noGrp="1"/>
          </p:cNvSpPr>
          <p:nvPr/>
        </p:nvSpPr>
        <p:spPr>
          <a:xfrm xmlns:a="http://schemas.openxmlformats.org/drawingml/2006/main">
            <a:off x="666750" y="646747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P05  |  Projet pédagogique OpenClassrooms</a:t>
            </a:r>
          </a:p>
        </p:txBody>
      </p:sp>
      <p:sp>
        <p:nvSpPr>
          <p:cNvPr id="5" name="">
            <a:extLst xmlns:a="http://schemas.openxmlformats.org/drawingml/2006/main">
              <a:ext uri="{FF2B5EF4-FFF2-40B4-BE49-F238E27FC236}">
                <a16:creationId xmlns:a16="http://schemas.microsoft.com/office/drawing/2014/main" id="{AF31588B-4815-4987-85FD-0B52CFAE2139}"/>
              </a:ext>
            </a:extLst>
          </p:cNvPr>
          <p:cNvSpPr>
            <a:spLocks xmlns:a="http://schemas.openxmlformats.org/drawingml/2006/main" noGrp="1"/>
          </p:cNvSpPr>
          <p:nvPr/>
        </p:nvSpPr>
        <p:spPr>
          <a:xfrm xmlns:a="http://schemas.openxmlformats.org/drawingml/2006/main">
            <a:off x="11068050" y="64674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37680"/>
                </a:solidFill>
                <a:latin typeface="Arial"/>
                <a:ea typeface="Arial"/>
                <a:cs typeface="Arial"/>
              </a:defRPr>
            </a:pPr>
            <a:r>
              <a:rPr sz="975" b="0">
                <a:solidFill>
                  <a:srgbClr val="637680"/>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B887CB9D-91AE-4068-80C1-F80BD7E80ED2}"/>
              </a:ext>
            </a:extLst>
          </p:cNvPr>
          <p:cNvSpPr>
            <a:spLocks xmlns:a="http://schemas.openxmlformats.org/drawingml/2006/main" noGrp="1"/>
          </p:cNvSpPr>
          <p:nvPr/>
        </p:nvSpPr>
        <p:spPr>
          <a:xfrm xmlns:a="http://schemas.openxmlformats.org/drawingml/2006/main">
            <a:off x="666750" y="17145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E8B"/>
                </a:solidFill>
                <a:latin typeface="Arial"/>
                <a:ea typeface="Arial"/>
                <a:cs typeface="Arial"/>
              </a:defRPr>
            </a:pPr>
            <a:r>
              <a:rPr sz="1950" b="1">
                <a:solidFill>
                  <a:srgbClr val="087E8B"/>
                </a:solidFill>
                <a:latin typeface="Arial"/>
                <a:ea typeface="Arial"/>
                <a:cs typeface="Arial"/>
              </a:rPr>
              <a:t>Sauvegardes</a:t>
            </a:r>
          </a:p>
        </p:txBody>
      </p:sp>
      <p:sp>
        <p:nvSpPr>
          <p:cNvPr id="7" name="">
            <a:extLst xmlns:a="http://schemas.openxmlformats.org/drawingml/2006/main">
              <a:ext uri="{FF2B5EF4-FFF2-40B4-BE49-F238E27FC236}">
                <a16:creationId xmlns:a16="http://schemas.microsoft.com/office/drawing/2014/main" id="{E7C00DE9-1EFF-4741-BFF3-B7C31A2DE074}"/>
              </a:ext>
            </a:extLst>
          </p:cNvPr>
          <p:cNvSpPr>
            <a:spLocks xmlns:a="http://schemas.openxmlformats.org/drawingml/2006/main" noGrp="1"/>
          </p:cNvSpPr>
          <p:nvPr/>
        </p:nvSpPr>
        <p:spPr>
          <a:xfrm xmlns:a="http://schemas.openxmlformats.org/drawingml/2006/main">
            <a:off x="666750" y="2333625"/>
            <a:ext cx="4953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DocumentDB : sauvegardes gérées</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et instantanés, rétention à définir.</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MongoDB sur ECS : stratégie à bâtir</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et sauvegardes à externaliser.</a:t>
            </a:r>
          </a:p>
        </p:txBody>
      </p:sp>
      <p:sp>
        <p:nvSpPr>
          <p:cNvPr id="8" name="">
            <a:extLst xmlns:a="http://schemas.openxmlformats.org/drawingml/2006/main">
              <a:ext uri="{FF2B5EF4-FFF2-40B4-BE49-F238E27FC236}">
                <a16:creationId xmlns:a16="http://schemas.microsoft.com/office/drawing/2014/main" id="{6E2C4E99-A069-43E4-B541-31F2DD43D5A4}"/>
              </a:ext>
            </a:extLst>
          </p:cNvPr>
          <p:cNvSpPr>
            <a:spLocks xmlns:a="http://schemas.openxmlformats.org/drawingml/2006/main" noGrp="1"/>
          </p:cNvSpPr>
          <p:nvPr/>
        </p:nvSpPr>
        <p:spPr>
          <a:xfrm xmlns:a="http://schemas.openxmlformats.org/drawingml/2006/main">
            <a:off x="6572250" y="17145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E8B"/>
                </a:solidFill>
                <a:latin typeface="Arial"/>
                <a:ea typeface="Arial"/>
                <a:cs typeface="Arial"/>
              </a:defRPr>
            </a:pPr>
            <a:r>
              <a:rPr sz="1950" b="1">
                <a:solidFill>
                  <a:srgbClr val="087E8B"/>
                </a:solidFill>
                <a:latin typeface="Arial"/>
                <a:ea typeface="Arial"/>
                <a:cs typeface="Arial"/>
              </a:rPr>
              <a:t>Surveillance</a:t>
            </a:r>
          </a:p>
        </p:txBody>
      </p:sp>
      <p:sp>
        <p:nvSpPr>
          <p:cNvPr id="9" name="">
            <a:extLst xmlns:a="http://schemas.openxmlformats.org/drawingml/2006/main">
              <a:ext uri="{FF2B5EF4-FFF2-40B4-BE49-F238E27FC236}">
                <a16:creationId xmlns:a16="http://schemas.microsoft.com/office/drawing/2014/main" id="{74F8205B-6773-4AEF-921C-8793FB53F824}"/>
              </a:ext>
            </a:extLst>
          </p:cNvPr>
          <p:cNvSpPr>
            <a:spLocks xmlns:a="http://schemas.openxmlformats.org/drawingml/2006/main" noGrp="1"/>
          </p:cNvSpPr>
          <p:nvPr/>
        </p:nvSpPr>
        <p:spPr>
          <a:xfrm xmlns:a="http://schemas.openxmlformats.org/drawingml/2006/main">
            <a:off x="6572250" y="2333625"/>
            <a:ext cx="4953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CloudWatch : CPU, mémoire,</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connexions, latence, erreurs.</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Ajouter des alertes applicatives :</a:t>
            </a:r>
          </a:p>
          <a:p xmlns:a="http://schemas.openxmlformats.org/drawingml/2006/main">
            <a:pPr>
              <a:defRPr sz="1725" b="0">
                <a:solidFill>
                  <a:srgbClr val="17323F"/>
                </a:solidFill>
                <a:latin typeface="Arial"/>
                <a:ea typeface="Arial"/>
                <a:cs typeface="Arial"/>
              </a:defRPr>
            </a:pPr>
            <a:r>
              <a:rPr sz="1725" b="0">
                <a:solidFill>
                  <a:srgbClr val="17323F"/>
                </a:solidFill>
                <a:latin typeface="Arial"/>
                <a:ea typeface="Arial"/>
                <a:cs typeface="Arial"/>
              </a:rPr>
              <a:t>retards et échecs de migration.</a:t>
            </a:r>
          </a:p>
        </p:txBody>
      </p:sp>
      <p:sp>
        <p:nvSpPr>
          <p:cNvPr id="10" name="">
            <a:extLst xmlns:a="http://schemas.openxmlformats.org/drawingml/2006/main">
              <a:ext uri="{FF2B5EF4-FFF2-40B4-BE49-F238E27FC236}">
                <a16:creationId xmlns:a16="http://schemas.microsoft.com/office/drawing/2014/main" id="{18D40510-9B48-4DD9-A877-EC79A9C5F62C}"/>
              </a:ext>
            </a:extLst>
          </p:cNvPr>
          <p:cNvSpPr>
            <a:spLocks xmlns:a="http://schemas.openxmlformats.org/drawingml/2006/main" noGrp="1"/>
          </p:cNvSpPr>
          <p:nvPr/>
        </p:nvSpPr>
        <p:spPr>
          <a:xfrm xmlns:a="http://schemas.openxmlformats.org/drawingml/2006/main">
            <a:off x="666750" y="42862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23F"/>
                </a:solidFill>
                <a:latin typeface="Arial"/>
                <a:ea typeface="Arial"/>
                <a:cs typeface="Arial"/>
              </a:defRPr>
            </a:pPr>
            <a:r>
              <a:rPr sz="1950" b="1">
                <a:solidFill>
                  <a:srgbClr val="17323F"/>
                </a:solidFill>
                <a:latin typeface="Arial"/>
                <a:ea typeface="Arial"/>
                <a:cs typeface="Arial"/>
              </a:rPr>
              <a:t>Une sauvegarde n’est prouvée qu’après une restauration contrôlée</a:t>
            </a:r>
          </a:p>
        </p:txBody>
      </p:sp>
      <p:sp>
        <p:nvSpPr>
          <p:cNvPr id="11" name="">
            <a:extLst xmlns:a="http://schemas.openxmlformats.org/drawingml/2006/main">
              <a:ext uri="{FF2B5EF4-FFF2-40B4-BE49-F238E27FC236}">
                <a16:creationId xmlns:a16="http://schemas.microsoft.com/office/drawing/2014/main" id="{6B853317-0129-48F0-9A5E-FA8832945082}"/>
              </a:ext>
            </a:extLst>
          </p:cNvPr>
          <p:cNvSpPr>
            <a:spLocks xmlns:a="http://schemas.openxmlformats.org/drawingml/2006/main" noGrp="1"/>
          </p:cNvSpPr>
          <p:nvPr/>
        </p:nvSpPr>
        <p:spPr>
          <a:xfrm xmlns:a="http://schemas.openxmlformats.org/drawingml/2006/main">
            <a:off x="666750" y="5105400"/>
            <a:ext cx="1085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23F"/>
                </a:solidFill>
                <a:latin typeface="Arial"/>
                <a:ea typeface="Arial"/>
                <a:cs typeface="Arial"/>
              </a:defRPr>
            </a:pPr>
            <a:r>
              <a:rPr sz="1650" b="0">
                <a:solidFill>
                  <a:srgbClr val="17323F"/>
                </a:solidFill>
                <a:latin typeface="Arial"/>
                <a:ea typeface="Arial"/>
                <a:cs typeface="Arial"/>
              </a:rPr>
              <a:t>Fixer la perte de données acceptable (RPO) et le délai de reprise (RTO).</a:t>
            </a:r>
          </a:p>
          <a:p xmlns:a="http://schemas.openxmlformats.org/drawingml/2006/main">
            <a:pPr>
              <a:defRPr sz="1650" b="0">
                <a:solidFill>
                  <a:srgbClr val="17323F"/>
                </a:solidFill>
                <a:latin typeface="Arial"/>
                <a:ea typeface="Arial"/>
                <a:cs typeface="Arial"/>
              </a:defRPr>
            </a:pPr>
            <a:r>
              <a:rPr sz="1650" b="0">
                <a:solidFill>
                  <a:srgbClr val="17323F"/>
                </a:solidFill>
                <a:latin typeface="Arial"/>
                <a:ea typeface="Arial"/>
                <a:cs typeface="Arial"/>
              </a:rPr>
              <a:t>Tester hors production : volume, contenu, droits et reprise du service.</a:t>
            </a:r>
          </a:p>
          <a:p xmlns:a="http://schemas.openxmlformats.org/drawingml/2006/main">
            <a:pPr>
              <a:defRPr sz="1650" b="0">
                <a:solidFill>
                  <a:srgbClr val="17323F"/>
                </a:solidFill>
                <a:latin typeface="Arial"/>
                <a:ea typeface="Arial"/>
                <a:cs typeface="Arial"/>
              </a:defRPr>
            </a:pPr>
            <a:r>
              <a:rPr sz="1650" b="0">
                <a:solidFill>
                  <a:srgbClr val="17323F"/>
                </a:solidFill>
                <a:latin typeface="Arial"/>
                <a:ea typeface="Arial"/>
                <a:cs typeface="Arial"/>
              </a:rPr>
              <a:t>La restauration locale du projet ne prouve pas une reprise après perte du poste.</a:t>
            </a:r>
          </a:p>
        </p:txBody>
      </p:sp>
    </p:spTree>
    <p:extLst>
      <p:ext uri="{BB962C8B-B14F-4D97-AF65-F5344CB8AC3E}">
        <p14:creationId xmlns:p14="http://schemas.microsoft.com/office/powerpoint/2010/main" val="165501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Projet 5</dc:creator>
  <lastModifiedBy>Projet 5</lastModifiedBy>
  <dc:title>Presentation</dc:title>
  <dcterms:created xsi:type="dcterms:W3CDTF">2026-09-23T09:49:16.9360000Z</dcterms:created>
  <dcterms:modified xsi:type="dcterms:W3CDTF">2026-09-23T09:49:16.9360000Z</dcterms:modified>
</coreProperties>
</file>